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eece925-38a5-9ec4-6513-647538414f55}">
          <p14:sldIdLst>
            <p14:sldId id="256"/>
            <p14:sldId id="257"/>
            <p14:sldId id="258"/>
          </p14:sldIdLst>
        </p14:section>
        <p14:section name="Innovation 1: Classroom to Content" id="{7c924aa1-874f-48b5-298d-8c90c994f897}">
          <p14:sldIdLst>
            <p14:sldId id="259"/>
            <p14:sldId id="260"/>
            <p14:sldId id="261"/>
            <p14:sldId id="262"/>
            <p14:sldId id="263"/>
            <p14:sldId id="264"/>
          </p14:sldIdLst>
        </p14:section>
        <p14:section name="Innovation 2: Social Enquiry Routing" id="{0c16b09e-82c5-0b8d-0355-96fae4e118a9}">
          <p14:sldIdLst>
            <p14:sldId id="265"/>
            <p14:sldId id="266"/>
            <p14:sldId id="267"/>
            <p14:sldId id="268"/>
            <p14:sldId id="269"/>
            <p14:sldId id="270"/>
          </p14:sldIdLst>
        </p14:section>
        <p14:section name="Close" id="{ad7fda53-b370-6b1b-c7df-02c93b96b06c}">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two innovations are about doing the work differently, not doing more of it. One changes where our content comes from. The other changes what happens when that content gets someone interested. Both use tools HRCC already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where we are, the two innovations, then the combined impact and what I need to make them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Cohort 49 plan says what we should post and how leads should reach Sales. What it does not solve is how one marketing officer delivers that every week while the creative team is stretched. So my innovations are routines, not new campaigns. If anyone asks whether this is already in the plan: the plan names the content, these innovations are how it actually gets made and followed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innovation: Classroom to Content. A series I'm calling Straight from the Classroom.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content depends on a stretched creative team, the Wednesday shoot takes too long, and the feed feels salesy. Meanwhile three modules of expert teaching happen every weekend. The innovation: a 3-minute interview after each module, three fixed questions, and AI turns it into four or more posts. Analogy: a cooking show filmed in a real kitchen. The cooking happens anyway. We just bring a camera and ask three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Saturday in person: phone, tripod, clip-on mic, three minutes. Sunday online: the facilitator stays on after participants leave, so no participants are filmed. Monday I process all three in about an hour with captions and AI drafts. Tuesday to Sunday the posts go out on schedule, each ending with a keyword like 'Comment PHRI', which feeds my second innovation. The Wednesday shoot then only covers announcements and promotions, so it gets shorter.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targets: capture at least 80% of modules, get four or more posts from each, publish within 48 hours of class, and make half of our weekly posts without the creative team. I'll measure the Wednesday shoot and engagement this week so the December comparison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is setup and a two-weekend pilot. November is the full weekly run. December is review, a highlights set for the next intake, and a playbook. The only cost is a tripod and a clip-on mic. Everything else is free or already in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10 October and the 29 November intake close there are eight teaching weekends. Three modules each gives 24 interviews and close to a hundred posts, made from teaching that happens anyway. The feed becomes more expert and less salesy, and the Wednesday shoot can be cut by half. Likely question: are we giving away paid content? No. One takeaway per module, not the lesson. It's the trailer, not the movie.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innovation: what happens when that content gets someone interested.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answer each DM by hand, and when someone is ready I send the Sales number. After that we lose sight of them. The plan already tags lead forms and creators. Our own DMs are the untagged route. The innovation: automatic first answers from a FAQ library, then a WhatsApp link per programme that pre-fills a message with a reference code. Analogy: a receptionist who hands over a referral slip instead of pointing down the hall. The slip says who they are and why they came, and slips can be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Someone comments a keyword or sends a DM. Meta Business Suite replies instantly. I follow up personally within 15 minutes in working hours. When they're ready, they tap the link for their programme and WhatsApp opens with the message already written, including the code. Sales sees the code, adds one label, and we count on Fridays. Website links get UTM tags so that route is counted too. Likely question: isn't WhatsApp Sales' job? Yes, and it stays theirs. My part ends at a clean, tagged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targets: a personal reply within 15 minutes, 60% of routine questions handled automatically, every handover tagged, and a weekly count shared with Sales. Some people will delete the pre-filled text, so the count is a minimum. Today the count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baselines, the FAQ library, automations and links, and a short briefing with Sales. November: live on every post. December: report and playbook. No new cost. The only ask of Sales is one label and a Friday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change is visibility. For the first time we can say how many enrolments started as a conversation on our pages. Prospects get faster answers, Sales gets warmer conversations, and I get time back. Likely question: will it feel robotic? Only the first reply is automatic, and a person takes over straight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innovations form one loop. The classroom series gives people something useful. Each post invites a keyword comment. The comment triggers an instant answer, ready buyers go to Sales with a code, and the questions people ask become next weekend's interview questions. In one line: answer in public, sell in private, and track the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Endorse the classroom series. Approve the reply standard and the one Sales label. And agree that Sales confirms the FAQ facts once. With those, both innovations start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asked for a better way of working, not simply more work. These two routines do that, and in December the numbers will show whether they worked.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HRCC-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RCC 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3657600" cy="274320"/>
          </a:xfrm>
          <a:prstGeom prst="rect">
            <a:avLst/>
          </a:prstGeom>
          <a:noFill/>
          <a:ln/>
        </p:spPr>
        <p:txBody>
          <a:bodyPr wrap="square" lIns="0" tIns="0" rIns="0" bIns="0" rtlCol="0" anchor="ctr"/>
          <a:lstStyle/>
          <a:p>
            <a:pPr indent="0" marL="0">
              <a:buNone/>
            </a:pPr>
            <a:r>
              <a:rPr lang="en-US" sz="900" b="1" spc="200" kern="0" dirty="0">
                <a:solidFill>
                  <a:schemeClr val="tx2"/>
                </a:solidFill>
                <a:latin typeface="General Sans" pitchFamily="34" charset="0"/>
                <a:ea typeface="General Sans" pitchFamily="34" charset="-122"/>
                <a:cs typeface="General Sans" pitchFamily="34" charset="-120"/>
              </a:rPr>
              <a:t>HR CERTIFICATION CENTRE</a:t>
            </a:r>
            <a:endParaRPr lang="en-US" sz="900" dirty="0"/>
          </a:p>
        </p:txBody>
      </p:sp>
      <p:sp>
        <p:nvSpPr>
          <p:cNvPr id="3" name="Text 1"/>
          <p:cNvSpPr/>
          <p:nvPr/>
        </p:nvSpPr>
        <p:spPr>
          <a:xfrm>
            <a:off x="6858000" y="274320"/>
            <a:ext cx="1828800" cy="274320"/>
          </a:xfrm>
          <a:prstGeom prst="rect">
            <a:avLst/>
          </a:prstGeom>
          <a:noFill/>
          <a:ln/>
        </p:spPr>
        <p:txBody>
          <a:bodyPr wrap="square" lIns="0" tIns="0" rIns="0" bIns="0" rtlCol="0" anchor="ctr"/>
          <a:lstStyle/>
          <a:p>
            <a:pPr algn="r" indent="0" marL="0">
              <a:buNone/>
            </a:pPr>
            <a:r>
              <a:rPr lang="en-US" sz="900" dirty="0">
                <a:solidFill>
                  <a:schemeClr val="accent4"/>
                </a:solidFill>
              </a:rPr>
              <a:t>Q4 innovations</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RCC Content Titled">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3657600" cy="274320"/>
          </a:xfrm>
          <a:prstGeom prst="rect">
            <a:avLst/>
          </a:prstGeom>
          <a:noFill/>
          <a:ln/>
        </p:spPr>
        <p:txBody>
          <a:bodyPr wrap="square" lIns="0" tIns="0" rIns="0" bIns="0" rtlCol="0" anchor="ctr"/>
          <a:lstStyle/>
          <a:p>
            <a:pPr indent="0" marL="0">
              <a:buNone/>
            </a:pPr>
            <a:r>
              <a:rPr lang="en-US" sz="900" b="1" spc="200" kern="0" dirty="0">
                <a:solidFill>
                  <a:schemeClr val="tx2"/>
                </a:solidFill>
                <a:latin typeface="General Sans" pitchFamily="34" charset="0"/>
                <a:ea typeface="General Sans" pitchFamily="34" charset="-122"/>
                <a:cs typeface="General Sans" pitchFamily="34" charset="-120"/>
              </a:rPr>
              <a:t>HR CERTIFICATION CENTRE</a:t>
            </a:r>
            <a:endParaRPr lang="en-US" sz="900" dirty="0"/>
          </a:p>
        </p:txBody>
      </p:sp>
      <p:sp>
        <p:nvSpPr>
          <p:cNvPr id="3" name="Text 1"/>
          <p:cNvSpPr/>
          <p:nvPr/>
        </p:nvSpPr>
        <p:spPr>
          <a:xfrm>
            <a:off x="6858000" y="274320"/>
            <a:ext cx="1828800" cy="274320"/>
          </a:xfrm>
          <a:prstGeom prst="rect">
            <a:avLst/>
          </a:prstGeom>
          <a:noFill/>
          <a:ln/>
        </p:spPr>
        <p:txBody>
          <a:bodyPr wrap="square" lIns="0" tIns="0" rIns="0" bIns="0" rtlCol="0" anchor="ctr"/>
          <a:lstStyle/>
          <a:p>
            <a:pPr algn="r" indent="0" marL="0">
              <a:buNone/>
            </a:pPr>
            <a:r>
              <a:rPr lang="en-US" sz="900" dirty="0">
                <a:solidFill>
                  <a:schemeClr val="accent4"/>
                </a:solidFill>
              </a:rPr>
              <a:t>Q4 innovations</a:t>
            </a:r>
            <a:endParaRPr lang="en-US" sz="900" dirty="0"/>
          </a:p>
        </p:txBody>
      </p:sp>
      <p:sp>
        <p:nvSpPr>
          <p:cNvPr id="4" name="Text 2"/>
          <p:cNvSpPr/>
          <p:nvPr>
            <p:ph idx="102" type="title" hasCustomPrompt="1"/>
          </p:nvPr>
        </p:nvSpPr>
        <p:spPr>
          <a:xfrm>
            <a:off x="457200" y="621792"/>
            <a:ext cx="8229600" cy="594360"/>
          </a:xfrm>
          <a:prstGeom prst="rect">
            <a:avLst/>
          </a:prstGeom>
          <a:noFill/>
          <a:ln/>
        </p:spPr>
        <p:txBody>
          <a:bodyPr wrap="square" rtlCol="0"/>
          <a:lstStyle>
            <a:lvl1pPr algn="l" indent="0" marL="0">
              <a:buNone/>
              <a:defRPr lang="en-US" sz="2600" b="1" dirty="0">
                <a:solidFill>
                  <a:schemeClr val="tx2"/>
                </a:solidFill>
                <a:latin typeface="General Sans" pitchFamily="34" charset="0"/>
                <a:ea typeface="General Sans" pitchFamily="34" charset="-122"/>
                <a:cs typeface="General Sans" pitchFamily="34" charset="-120"/>
              </a:defRPr>
            </a:lvl1pPr>
          </a:lstStyle>
          <a:p>
            <a:pPr algn="l" indent="0" marL="0">
              <a:buNone/>
            </a:pPr>
            <a:endParaRPr lang="en-US" sz="2600" dirty="0"/>
          </a:p>
        </p:txBody>
      </p:sp>
      <p:sp>
        <p:nvSpPr>
          <p:cNvPr id="5" name="Text 2"/>
          <p:cNvSpPr/>
          <p:nvPr>
            <p:ph idx="103" type="body" hasCustomPrompt="1"/>
          </p:nvPr>
        </p:nvSpPr>
        <p:spPr>
          <a:xfrm>
            <a:off x="457200" y="1216152"/>
            <a:ext cx="8229600" cy="320040"/>
          </a:xfrm>
          <a:prstGeom prst="rect">
            <a:avLst/>
          </a:prstGeom>
          <a:noFill/>
          <a:ln/>
        </p:spPr>
        <p:txBody>
          <a:bodyPr wrap="square" rtlCol="0"/>
          <a:lstStyle>
            <a:lvl1pPr algn="l" indent="0" marL="0">
              <a:buNone/>
              <a:defRPr lang="en-US" sz="1300" dirty="0">
                <a:solidFill>
                  <a:schemeClr val="accent4"/>
                </a:solidFill>
              </a:defRPr>
            </a:lvl1pPr>
          </a:lstStyle>
          <a:p>
            <a:pPr algn="l" indent="0" marL="0">
              <a:buNone/>
            </a:pP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RCC 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274320"/>
            <a:ext cx="3657600" cy="274320"/>
          </a:xfrm>
          <a:prstGeom prst="rect">
            <a:avLst/>
          </a:prstGeom>
          <a:noFill/>
          <a:ln/>
        </p:spPr>
        <p:txBody>
          <a:bodyPr wrap="square" lIns="0" tIns="0" rIns="0" bIns="0" rtlCol="0" anchor="ctr"/>
          <a:lstStyle/>
          <a:p>
            <a:pPr indent="0" marL="0">
              <a:buNone/>
            </a:pPr>
            <a:r>
              <a:rPr lang="en-US" sz="900" b="1" spc="200" kern="0" dirty="0">
                <a:solidFill>
                  <a:schemeClr val="bg1"/>
                </a:solidFill>
                <a:latin typeface="General Sans" pitchFamily="34" charset="0"/>
                <a:ea typeface="General Sans" pitchFamily="34" charset="-122"/>
                <a:cs typeface="General Sans" pitchFamily="34" charset="-120"/>
              </a:rPr>
              <a:t>HR CERTIFICATION CENTRE</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slideLayout" Target="../slideLayouts/slideLayout3.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3.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Watermark"/>
          <p:cNvSpPr txBox="1"/>
          <p:nvPr/>
        </p:nvSpPr>
        <p:spPr>
          <a:xfrm>
            <a:off x="4206240" y="-182880"/>
            <a:ext cx="5120640" cy="5120640"/>
          </a:xfrm>
          <a:prstGeom prst="rect">
            <a:avLst/>
          </a:prstGeom>
          <a:noFill/>
          <a:ln/>
        </p:spPr>
        <p:txBody>
          <a:bodyPr wrap="square" lIns="0" tIns="0" rIns="0" bIns="0" rtlCol="0" anchor="ctr"/>
          <a:lstStyle/>
          <a:p>
            <a:pPr algn="r" indent="0" marL="0">
              <a:buNone/>
            </a:pPr>
            <a:r>
              <a:rPr lang="en-US" sz="30000" dirty="0">
                <a:solidFill>
                  <a:schemeClr val="bg1">
                    <a:alpha val="14000"/>
                  </a:schemeClr>
                </a:solidFill>
                <a:latin typeface="Bebas Neue Regular" pitchFamily="34" charset="0"/>
                <a:ea typeface="Bebas Neue Regular" pitchFamily="34" charset="-122"/>
                <a:cs typeface="Bebas Neue Regular" pitchFamily="34" charset="-120"/>
              </a:rPr>
              <a:t>Q4</a:t>
            </a:r>
            <a:endParaRPr lang="en-US" sz="30000" dirty="0"/>
          </a:p>
        </p:txBody>
      </p:sp>
      <p:sp>
        <p:nvSpPr>
          <p:cNvPr id="3" name="Pill"/>
          <p:cNvSpPr/>
          <p:nvPr/>
        </p:nvSpPr>
        <p:spPr>
          <a:xfrm>
            <a:off x="457200" y="1143000"/>
            <a:ext cx="2286000" cy="310896"/>
          </a:xfrm>
          <a:prstGeom prst="roundRect">
            <a:avLst>
              <a:gd name="adj" fmla="val 50000"/>
            </a:avLst>
          </a:prstGeom>
          <a:solidFill>
            <a:schemeClr val="bg1">
              <a:alpha val="0"/>
            </a:schemeClr>
          </a:solidFill>
          <a:ln w="12700">
            <a:solidFill>
              <a:schemeClr val="bg1"/>
            </a:solidFill>
            <a:prstDash val="solid"/>
          </a:ln>
        </p:spPr>
      </p:sp>
      <p:sp>
        <p:nvSpPr>
          <p:cNvPr id="4" name="Text 2"/>
          <p:cNvSpPr txBox="1"/>
          <p:nvPr/>
        </p:nvSpPr>
        <p:spPr>
          <a:xfrm>
            <a:off x="457200" y="1143000"/>
            <a:ext cx="2286000" cy="310896"/>
          </a:xfrm>
          <a:prstGeom prst="rect">
            <a:avLst/>
          </a:prstGeom>
          <a:noFill/>
          <a:ln/>
        </p:spPr>
        <p:txBody>
          <a:bodyPr wrap="square" lIns="0" tIns="0" rIns="0" bIns="0" rtlCol="0" anchor="ctr"/>
          <a:lstStyle/>
          <a:p>
            <a:pPr algn="ctr" indent="0" marL="0">
              <a:buNone/>
            </a:pPr>
            <a:r>
              <a:rPr lang="en-US" sz="1100" dirty="0">
                <a:solidFill>
                  <a:schemeClr val="bg1"/>
                </a:solidFill>
              </a:rPr>
              <a:t>Q4 Operational Innovation</a:t>
            </a:r>
            <a:endParaRPr lang="en-US" sz="1100" dirty="0"/>
          </a:p>
        </p:txBody>
      </p:sp>
      <p:sp>
        <p:nvSpPr>
          <p:cNvPr id="5" name="Text 3"/>
          <p:cNvSpPr txBox="1"/>
          <p:nvPr/>
        </p:nvSpPr>
        <p:spPr>
          <a:xfrm>
            <a:off x="457200" y="1645920"/>
            <a:ext cx="5943600" cy="1325880"/>
          </a:xfrm>
          <a:prstGeom prst="rect">
            <a:avLst/>
          </a:prstGeom>
          <a:noFill/>
          <a:ln/>
        </p:spPr>
        <p:txBody>
          <a:bodyPr wrap="square" lIns="0" tIns="0" rIns="0" bIns="0" rtlCol="0" anchor="ctr"/>
          <a:lstStyle/>
          <a:p>
            <a:pPr indent="0" marL="0">
              <a:buNone/>
            </a:pPr>
            <a:r>
              <a:rPr lang="en-US" sz="3800" b="1" dirty="0">
                <a:solidFill>
                  <a:schemeClr val="bg1"/>
                </a:solidFill>
                <a:latin typeface="General Sans" pitchFamily="34" charset="0"/>
                <a:ea typeface="General Sans" pitchFamily="34" charset="-122"/>
                <a:cs typeface="General Sans" pitchFamily="34" charset="-120"/>
              </a:rPr>
              <a:t>Two better ways</a:t>
            </a:r>
            <a:endParaRPr lang="en-US" sz="3800" dirty="0"/>
          </a:p>
          <a:p>
            <a:pPr indent="0" marL="0">
              <a:buNone/>
            </a:pPr>
            <a:r>
              <a:rPr lang="en-US" sz="3800" b="1" dirty="0">
                <a:solidFill>
                  <a:schemeClr val="bg1"/>
                </a:solidFill>
                <a:latin typeface="General Sans" pitchFamily="34" charset="0"/>
                <a:ea typeface="General Sans" pitchFamily="34" charset="-122"/>
                <a:cs typeface="General Sans" pitchFamily="34" charset="-120"/>
              </a:rPr>
              <a:t>of working</a:t>
            </a:r>
            <a:endParaRPr lang="en-US" sz="3800" dirty="0"/>
          </a:p>
        </p:txBody>
      </p:sp>
      <p:sp>
        <p:nvSpPr>
          <p:cNvPr id="6" name="Text 4"/>
          <p:cNvSpPr txBox="1"/>
          <p:nvPr/>
        </p:nvSpPr>
        <p:spPr>
          <a:xfrm>
            <a:off x="457200" y="3063240"/>
            <a:ext cx="5486400" cy="640080"/>
          </a:xfrm>
          <a:prstGeom prst="rect">
            <a:avLst/>
          </a:prstGeom>
          <a:noFill/>
          <a:ln/>
        </p:spPr>
        <p:txBody>
          <a:bodyPr wrap="square" lIns="0" tIns="0" rIns="0" bIns="0" rtlCol="0" anchor="t"/>
          <a:lstStyle/>
          <a:p>
            <a:pPr indent="0" marL="0">
              <a:buNone/>
            </a:pPr>
            <a:r>
              <a:rPr lang="en-US" sz="1500" dirty="0">
                <a:solidFill>
                  <a:schemeClr val="accent5"/>
                </a:solidFill>
              </a:rPr>
              <a:t>Capture the teaching, share it as value,</a:t>
            </a:r>
            <a:endParaRPr lang="en-US" sz="1500" dirty="0"/>
          </a:p>
          <a:p>
            <a:pPr indent="0" marL="0">
              <a:buNone/>
            </a:pPr>
            <a:r>
              <a:rPr lang="en-US" sz="1500" dirty="0">
                <a:solidFill>
                  <a:schemeClr val="accent5"/>
                </a:solidFill>
              </a:rPr>
              <a:t>and track who it brings in.</a:t>
            </a:r>
            <a:endParaRPr lang="en-US" sz="1500" dirty="0"/>
          </a:p>
        </p:txBody>
      </p:sp>
      <p:sp>
        <p:nvSpPr>
          <p:cNvPr id="7" name="Text 5"/>
          <p:cNvSpPr txBox="1"/>
          <p:nvPr/>
        </p:nvSpPr>
        <p:spPr>
          <a:xfrm>
            <a:off x="457200" y="4526280"/>
            <a:ext cx="6400800" cy="274320"/>
          </a:xfrm>
          <a:prstGeom prst="rect">
            <a:avLst/>
          </a:prstGeom>
          <a:noFill/>
          <a:ln/>
        </p:spPr>
        <p:txBody>
          <a:bodyPr wrap="square" lIns="0" tIns="0" rIns="0" bIns="0" rtlCol="0" anchor="t"/>
          <a:lstStyle/>
          <a:p>
            <a:pPr indent="0" marL="0">
              <a:buNone/>
            </a:pPr>
            <a:r>
              <a:rPr lang="en-US" sz="1000" dirty="0">
                <a:solidFill>
                  <a:schemeClr val="accent5"/>
                </a:solidFill>
              </a:rPr>
              <a:t>Silas Atuahene Appiah  |  Digital Marketing Officer  |  5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ide panel" descr="preencoded.png">    </p:cNvPr>
          <p:cNvPicPr>
            <a:picLocks noChangeAspect="1"/>
          </p:cNvPicPr>
          <p:nvPr/>
        </p:nvPicPr>
        <p:blipFill>
          <a:blip r:embed="rId1"/>
          <a:stretch>
            <a:fillRect/>
          </a:stretch>
        </p:blipFill>
        <p:spPr>
          <a:xfrm>
            <a:off x="0" y="0"/>
            <a:ext cx="3017520" cy="5143500"/>
          </a:xfrm>
          <a:prstGeom prst="rect">
            <a:avLst/>
          </a:prstGeom>
        </p:spPr>
      </p:pic>
      <p:sp>
        <p:nvSpPr>
          <p:cNvPr id="3" name="Text 0"/>
          <p:cNvSpPr txBox="1"/>
          <p:nvPr/>
        </p:nvSpPr>
        <p:spPr>
          <a:xfrm>
            <a:off x="457200" y="274320"/>
            <a:ext cx="2377440" cy="274320"/>
          </a:xfrm>
          <a:prstGeom prst="rect">
            <a:avLst/>
          </a:prstGeom>
          <a:noFill/>
          <a:ln/>
        </p:spPr>
        <p:txBody>
          <a:bodyPr wrap="square" lIns="0" tIns="0" rIns="0" bIns="0" rtlCol="0" anchor="t"/>
          <a:lstStyle/>
          <a:p>
            <a:pPr indent="0" marL="0">
              <a:buNone/>
            </a:pPr>
            <a:r>
              <a:rPr lang="en-US" sz="900" b="1" spc="200" kern="0" dirty="0">
                <a:solidFill>
                  <a:schemeClr val="bg1"/>
                </a:solidFill>
                <a:latin typeface="General Sans" pitchFamily="34" charset="0"/>
                <a:ea typeface="General Sans" pitchFamily="34" charset="-122"/>
                <a:cs typeface="General Sans" pitchFamily="34" charset="-120"/>
              </a:rPr>
              <a:t>HR CERTIFICATION CENTRE</a:t>
            </a:r>
            <a:endParaRPr lang="en-US" sz="900" dirty="0"/>
          </a:p>
        </p:txBody>
      </p:sp>
      <p:sp>
        <p:nvSpPr>
          <p:cNvPr id="4" name="Watermark"/>
          <p:cNvSpPr txBox="1"/>
          <p:nvPr/>
        </p:nvSpPr>
        <p:spPr>
          <a:xfrm>
            <a:off x="-274320" y="365760"/>
            <a:ext cx="3108960" cy="3108960"/>
          </a:xfrm>
          <a:prstGeom prst="rect">
            <a:avLst/>
          </a:prstGeom>
          <a:noFill/>
          <a:ln/>
        </p:spPr>
        <p:txBody>
          <a:bodyPr wrap="square" lIns="0" tIns="0" rIns="0" bIns="0" rtlCol="0" anchor="ctr"/>
          <a:lstStyle/>
          <a:p>
            <a:pPr algn="l" indent="0" marL="0">
              <a:buNone/>
            </a:pPr>
            <a:r>
              <a:rPr lang="en-US" sz="20000" dirty="0">
                <a:solidFill>
                  <a:schemeClr val="bg1">
                    <a:alpha val="14000"/>
                  </a:schemeClr>
                </a:solidFill>
                <a:latin typeface="Bebas Neue Regular" pitchFamily="34" charset="0"/>
                <a:ea typeface="Bebas Neue Regular" pitchFamily="34" charset="-122"/>
                <a:cs typeface="Bebas Neue Regular" pitchFamily="34" charset="-120"/>
              </a:rPr>
              <a:t>Q4</a:t>
            </a:r>
            <a:endParaRPr lang="en-US" sz="20000" dirty="0"/>
          </a:p>
        </p:txBody>
      </p:sp>
      <p:sp>
        <p:nvSpPr>
          <p:cNvPr id="5" name="Text 2"/>
          <p:cNvSpPr txBox="1"/>
          <p:nvPr/>
        </p:nvSpPr>
        <p:spPr>
          <a:xfrm>
            <a:off x="457200" y="3383280"/>
            <a:ext cx="2377440" cy="1097280"/>
          </a:xfrm>
          <a:prstGeom prst="rect">
            <a:avLst/>
          </a:prstGeom>
          <a:noFill/>
          <a:ln/>
        </p:spPr>
        <p:txBody>
          <a:bodyPr wrap="square" lIns="0" tIns="0" rIns="0" bIns="0" rtlCol="0" anchor="b"/>
          <a:lstStyle/>
          <a:p>
            <a:pPr indent="0" marL="0">
              <a:buNone/>
            </a:pPr>
            <a:r>
              <a:rPr lang="en-US" sz="3000" b="1" dirty="0">
                <a:solidFill>
                  <a:schemeClr val="bg1"/>
                </a:solidFill>
                <a:latin typeface="General Sans" pitchFamily="34" charset="0"/>
                <a:ea typeface="General Sans" pitchFamily="34" charset="-122"/>
                <a:cs typeface="General Sans" pitchFamily="34" charset="-120"/>
              </a:rPr>
              <a:t>What I'll</a:t>
            </a:r>
            <a:endParaRPr lang="en-US" sz="3000" dirty="0"/>
          </a:p>
          <a:p>
            <a:pPr indent="0" marL="0">
              <a:buNone/>
            </a:pPr>
            <a:r>
              <a:rPr lang="en-US" sz="3000" b="1" dirty="0">
                <a:solidFill>
                  <a:schemeClr val="bg1"/>
                </a:solidFill>
                <a:latin typeface="General Sans" pitchFamily="34" charset="0"/>
                <a:ea typeface="General Sans" pitchFamily="34" charset="-122"/>
                <a:cs typeface="General Sans" pitchFamily="34" charset="-120"/>
              </a:rPr>
              <a:t>cover</a:t>
            </a:r>
            <a:endParaRPr lang="en-US" sz="3000" dirty="0"/>
          </a:p>
        </p:txBody>
      </p:sp>
      <p:sp>
        <p:nvSpPr>
          <p:cNvPr id="6" name="Text 3"/>
          <p:cNvSpPr txBox="1"/>
          <p:nvPr/>
        </p:nvSpPr>
        <p:spPr>
          <a:xfrm>
            <a:off x="3520440" y="685800"/>
            <a:ext cx="822960" cy="685800"/>
          </a:xfrm>
          <a:prstGeom prst="rect">
            <a:avLst/>
          </a:prstGeom>
          <a:noFill/>
          <a:ln/>
        </p:spPr>
        <p:txBody>
          <a:bodyPr wrap="square" lIns="0" tIns="0" rIns="0" bIns="0" rtlCol="0" anchor="ctr"/>
          <a:lstStyle/>
          <a:p>
            <a:pPr indent="0" marL="0">
              <a:buNone/>
            </a:pPr>
            <a:r>
              <a:rPr lang="en-US" sz="4400" dirty="0">
                <a:solidFill>
                  <a:schemeClr val="accent1"/>
                </a:solidFill>
                <a:latin typeface="Bebas Neue Regular" pitchFamily="34" charset="0"/>
                <a:ea typeface="Bebas Neue Regular" pitchFamily="34" charset="-122"/>
                <a:cs typeface="Bebas Neue Regular" pitchFamily="34" charset="-120"/>
              </a:rPr>
              <a:t>01</a:t>
            </a:r>
            <a:endParaRPr lang="en-US" sz="4400" dirty="0"/>
          </a:p>
        </p:txBody>
      </p:sp>
      <p:sp>
        <p:nvSpPr>
          <p:cNvPr id="7" name="Text 4"/>
          <p:cNvSpPr txBox="1"/>
          <p:nvPr/>
        </p:nvSpPr>
        <p:spPr>
          <a:xfrm>
            <a:off x="4434840" y="758952"/>
            <a:ext cx="4206240" cy="292608"/>
          </a:xfrm>
          <a:prstGeom prst="rect">
            <a:avLst/>
          </a:prstGeom>
          <a:noFill/>
          <a:ln/>
        </p:spPr>
        <p:txBody>
          <a:bodyPr wrap="square" lIns="0" tIns="0" rIns="0" bIns="0" rtlCol="0" anchor="t"/>
          <a:lstStyle/>
          <a:p>
            <a:pPr indent="0" marL="0">
              <a:buNone/>
            </a:pPr>
            <a:r>
              <a:rPr lang="en-US" sz="1600" b="1" dirty="0">
                <a:solidFill>
                  <a:schemeClr val="tx2"/>
                </a:solidFill>
                <a:latin typeface="General Sans" pitchFamily="34" charset="0"/>
                <a:ea typeface="General Sans" pitchFamily="34" charset="-122"/>
                <a:cs typeface="General Sans" pitchFamily="34" charset="-120"/>
              </a:rPr>
              <a:t>Where we are</a:t>
            </a:r>
            <a:endParaRPr lang="en-US" sz="1600" dirty="0"/>
          </a:p>
        </p:txBody>
      </p:sp>
      <p:sp>
        <p:nvSpPr>
          <p:cNvPr id="8" name="Text 5"/>
          <p:cNvSpPr txBox="1"/>
          <p:nvPr/>
        </p:nvSpPr>
        <p:spPr>
          <a:xfrm>
            <a:off x="4434840" y="1069848"/>
            <a:ext cx="4206240" cy="274320"/>
          </a:xfrm>
          <a:prstGeom prst="rect">
            <a:avLst/>
          </a:prstGeom>
          <a:noFill/>
          <a:ln/>
        </p:spPr>
        <p:txBody>
          <a:bodyPr wrap="square" lIns="0" tIns="0" rIns="0" bIns="0" rtlCol="0" anchor="t"/>
          <a:lstStyle/>
          <a:p>
            <a:pPr indent="0" marL="0">
              <a:buNone/>
            </a:pPr>
            <a:r>
              <a:rPr lang="en-US" sz="1200" dirty="0">
                <a:solidFill>
                  <a:schemeClr val="accent4"/>
                </a:solidFill>
              </a:rPr>
              <a:t>The plan is set. The gap is how the work gets done.</a:t>
            </a:r>
            <a:endParaRPr lang="en-US" sz="1200" dirty="0"/>
          </a:p>
        </p:txBody>
      </p:sp>
      <p:sp>
        <p:nvSpPr>
          <p:cNvPr id="9" name="Shape 6"/>
          <p:cNvSpPr/>
          <p:nvPr/>
        </p:nvSpPr>
        <p:spPr>
          <a:xfrm>
            <a:off x="3520440" y="1600200"/>
            <a:ext cx="5166360" cy="0"/>
          </a:xfrm>
          <a:prstGeom prst="line">
            <a:avLst/>
          </a:prstGeom>
          <a:noFill/>
          <a:ln w="9525">
            <a:solidFill>
              <a:schemeClr val="accent5"/>
            </a:solidFill>
            <a:prstDash val="solid"/>
          </a:ln>
        </p:spPr>
      </p:sp>
      <p:sp>
        <p:nvSpPr>
          <p:cNvPr id="10" name="Text 7"/>
          <p:cNvSpPr txBox="1"/>
          <p:nvPr/>
        </p:nvSpPr>
        <p:spPr>
          <a:xfrm>
            <a:off x="3520440" y="1709928"/>
            <a:ext cx="822960" cy="685800"/>
          </a:xfrm>
          <a:prstGeom prst="rect">
            <a:avLst/>
          </a:prstGeom>
          <a:noFill/>
          <a:ln/>
        </p:spPr>
        <p:txBody>
          <a:bodyPr wrap="square" lIns="0" tIns="0" rIns="0" bIns="0" rtlCol="0" anchor="ctr"/>
          <a:lstStyle/>
          <a:p>
            <a:pPr indent="0" marL="0">
              <a:buNone/>
            </a:pPr>
            <a:r>
              <a:rPr lang="en-US" sz="4400" dirty="0">
                <a:solidFill>
                  <a:schemeClr val="accent1"/>
                </a:solidFill>
                <a:latin typeface="Bebas Neue Regular" pitchFamily="34" charset="0"/>
                <a:ea typeface="Bebas Neue Regular" pitchFamily="34" charset="-122"/>
                <a:cs typeface="Bebas Neue Regular" pitchFamily="34" charset="-120"/>
              </a:rPr>
              <a:t>02</a:t>
            </a:r>
            <a:endParaRPr lang="en-US" sz="4400" dirty="0"/>
          </a:p>
        </p:txBody>
      </p:sp>
      <p:sp>
        <p:nvSpPr>
          <p:cNvPr id="11" name="Text 8"/>
          <p:cNvSpPr txBox="1"/>
          <p:nvPr/>
        </p:nvSpPr>
        <p:spPr>
          <a:xfrm>
            <a:off x="4434840" y="1783080"/>
            <a:ext cx="4206240" cy="292608"/>
          </a:xfrm>
          <a:prstGeom prst="rect">
            <a:avLst/>
          </a:prstGeom>
          <a:noFill/>
          <a:ln/>
        </p:spPr>
        <p:txBody>
          <a:bodyPr wrap="square" lIns="0" tIns="0" rIns="0" bIns="0" rtlCol="0" anchor="t"/>
          <a:lstStyle/>
          <a:p>
            <a:pPr indent="0" marL="0">
              <a:buNone/>
            </a:pPr>
            <a:r>
              <a:rPr lang="en-US" sz="1600" b="1" dirty="0">
                <a:solidFill>
                  <a:schemeClr val="tx2"/>
                </a:solidFill>
                <a:latin typeface="General Sans" pitchFamily="34" charset="0"/>
                <a:ea typeface="General Sans" pitchFamily="34" charset="-122"/>
                <a:cs typeface="General Sans" pitchFamily="34" charset="-120"/>
              </a:rPr>
              <a:t>Classroom to Content</a:t>
            </a:r>
            <a:endParaRPr lang="en-US" sz="1600" dirty="0"/>
          </a:p>
        </p:txBody>
      </p:sp>
      <p:sp>
        <p:nvSpPr>
          <p:cNvPr id="12" name="Text 9"/>
          <p:cNvSpPr txBox="1"/>
          <p:nvPr/>
        </p:nvSpPr>
        <p:spPr>
          <a:xfrm>
            <a:off x="4434840" y="2093976"/>
            <a:ext cx="4206240" cy="274320"/>
          </a:xfrm>
          <a:prstGeom prst="rect">
            <a:avLst/>
          </a:prstGeom>
          <a:noFill/>
          <a:ln/>
        </p:spPr>
        <p:txBody>
          <a:bodyPr wrap="square" lIns="0" tIns="0" rIns="0" bIns="0" rtlCol="0" anchor="t"/>
          <a:lstStyle/>
          <a:p>
            <a:pPr indent="0" marL="0">
              <a:buNone/>
            </a:pPr>
            <a:r>
              <a:rPr lang="en-US" sz="1200" dirty="0">
                <a:solidFill>
                  <a:schemeClr val="accent4"/>
                </a:solidFill>
              </a:rPr>
              <a:t>Turning every module into a week of value posts.</a:t>
            </a:r>
            <a:endParaRPr lang="en-US" sz="1200" dirty="0"/>
          </a:p>
        </p:txBody>
      </p:sp>
      <p:sp>
        <p:nvSpPr>
          <p:cNvPr id="13" name="Shape 10"/>
          <p:cNvSpPr/>
          <p:nvPr/>
        </p:nvSpPr>
        <p:spPr>
          <a:xfrm>
            <a:off x="3520440" y="2624328"/>
            <a:ext cx="5166360" cy="0"/>
          </a:xfrm>
          <a:prstGeom prst="line">
            <a:avLst/>
          </a:prstGeom>
          <a:noFill/>
          <a:ln w="9525">
            <a:solidFill>
              <a:schemeClr val="accent5"/>
            </a:solidFill>
            <a:prstDash val="solid"/>
          </a:ln>
        </p:spPr>
      </p:sp>
      <p:sp>
        <p:nvSpPr>
          <p:cNvPr id="14" name="Text 11"/>
          <p:cNvSpPr txBox="1"/>
          <p:nvPr/>
        </p:nvSpPr>
        <p:spPr>
          <a:xfrm>
            <a:off x="3520440" y="2734056"/>
            <a:ext cx="822960" cy="685800"/>
          </a:xfrm>
          <a:prstGeom prst="rect">
            <a:avLst/>
          </a:prstGeom>
          <a:noFill/>
          <a:ln/>
        </p:spPr>
        <p:txBody>
          <a:bodyPr wrap="square" lIns="0" tIns="0" rIns="0" bIns="0" rtlCol="0" anchor="ctr"/>
          <a:lstStyle/>
          <a:p>
            <a:pPr indent="0" marL="0">
              <a:buNone/>
            </a:pPr>
            <a:r>
              <a:rPr lang="en-US" sz="4400" dirty="0">
                <a:solidFill>
                  <a:schemeClr val="accent1"/>
                </a:solidFill>
                <a:latin typeface="Bebas Neue Regular" pitchFamily="34" charset="0"/>
                <a:ea typeface="Bebas Neue Regular" pitchFamily="34" charset="-122"/>
                <a:cs typeface="Bebas Neue Regular" pitchFamily="34" charset="-120"/>
              </a:rPr>
              <a:t>03</a:t>
            </a:r>
            <a:endParaRPr lang="en-US" sz="4400" dirty="0"/>
          </a:p>
        </p:txBody>
      </p:sp>
      <p:sp>
        <p:nvSpPr>
          <p:cNvPr id="15" name="Text 12"/>
          <p:cNvSpPr txBox="1"/>
          <p:nvPr/>
        </p:nvSpPr>
        <p:spPr>
          <a:xfrm>
            <a:off x="4434840" y="2807208"/>
            <a:ext cx="4206240" cy="292608"/>
          </a:xfrm>
          <a:prstGeom prst="rect">
            <a:avLst/>
          </a:prstGeom>
          <a:noFill/>
          <a:ln/>
        </p:spPr>
        <p:txBody>
          <a:bodyPr wrap="square" lIns="0" tIns="0" rIns="0" bIns="0" rtlCol="0" anchor="t"/>
          <a:lstStyle/>
          <a:p>
            <a:pPr indent="0" marL="0">
              <a:buNone/>
            </a:pPr>
            <a:r>
              <a:rPr lang="en-US" sz="1600" b="1" dirty="0">
                <a:solidFill>
                  <a:schemeClr val="tx2"/>
                </a:solidFill>
                <a:latin typeface="General Sans" pitchFamily="34" charset="0"/>
                <a:ea typeface="General Sans" pitchFamily="34" charset="-122"/>
                <a:cs typeface="General Sans" pitchFamily="34" charset="-120"/>
              </a:rPr>
              <a:t>Social Enquiry Routing</a:t>
            </a:r>
            <a:endParaRPr lang="en-US" sz="1600" dirty="0"/>
          </a:p>
        </p:txBody>
      </p:sp>
      <p:sp>
        <p:nvSpPr>
          <p:cNvPr id="16" name="Text 13"/>
          <p:cNvSpPr txBox="1"/>
          <p:nvPr/>
        </p:nvSpPr>
        <p:spPr>
          <a:xfrm>
            <a:off x="4434840" y="3118104"/>
            <a:ext cx="4206240" cy="274320"/>
          </a:xfrm>
          <a:prstGeom prst="rect">
            <a:avLst/>
          </a:prstGeom>
          <a:noFill/>
          <a:ln/>
        </p:spPr>
        <p:txBody>
          <a:bodyPr wrap="square" lIns="0" tIns="0" rIns="0" bIns="0" rtlCol="0" anchor="t"/>
          <a:lstStyle/>
          <a:p>
            <a:pPr indent="0" marL="0">
              <a:buNone/>
            </a:pPr>
            <a:r>
              <a:rPr lang="en-US" sz="1200" dirty="0">
                <a:solidFill>
                  <a:schemeClr val="accent4"/>
                </a:solidFill>
              </a:rPr>
              <a:t>Instant answers, and a tagged handover to Sales.</a:t>
            </a:r>
            <a:endParaRPr lang="en-US" sz="1200" dirty="0"/>
          </a:p>
        </p:txBody>
      </p:sp>
      <p:sp>
        <p:nvSpPr>
          <p:cNvPr id="17" name="Shape 14"/>
          <p:cNvSpPr/>
          <p:nvPr/>
        </p:nvSpPr>
        <p:spPr>
          <a:xfrm>
            <a:off x="3520440" y="3648456"/>
            <a:ext cx="5166360" cy="0"/>
          </a:xfrm>
          <a:prstGeom prst="line">
            <a:avLst/>
          </a:prstGeom>
          <a:noFill/>
          <a:ln w="9525">
            <a:solidFill>
              <a:schemeClr val="accent5"/>
            </a:solidFill>
            <a:prstDash val="solid"/>
          </a:ln>
        </p:spPr>
      </p:sp>
      <p:sp>
        <p:nvSpPr>
          <p:cNvPr id="18" name="Text 15"/>
          <p:cNvSpPr txBox="1"/>
          <p:nvPr/>
        </p:nvSpPr>
        <p:spPr>
          <a:xfrm>
            <a:off x="3520440" y="3758184"/>
            <a:ext cx="822960" cy="685800"/>
          </a:xfrm>
          <a:prstGeom prst="rect">
            <a:avLst/>
          </a:prstGeom>
          <a:noFill/>
          <a:ln/>
        </p:spPr>
        <p:txBody>
          <a:bodyPr wrap="square" lIns="0" tIns="0" rIns="0" bIns="0" rtlCol="0" anchor="ctr"/>
          <a:lstStyle/>
          <a:p>
            <a:pPr indent="0" marL="0">
              <a:buNone/>
            </a:pPr>
            <a:r>
              <a:rPr lang="en-US" sz="4400" dirty="0">
                <a:solidFill>
                  <a:schemeClr val="accent1"/>
                </a:solidFill>
                <a:latin typeface="Bebas Neue Regular" pitchFamily="34" charset="0"/>
                <a:ea typeface="Bebas Neue Regular" pitchFamily="34" charset="-122"/>
                <a:cs typeface="Bebas Neue Regular" pitchFamily="34" charset="-120"/>
              </a:rPr>
              <a:t>04</a:t>
            </a:r>
            <a:endParaRPr lang="en-US" sz="4400" dirty="0"/>
          </a:p>
        </p:txBody>
      </p:sp>
      <p:sp>
        <p:nvSpPr>
          <p:cNvPr id="19" name="Text 16"/>
          <p:cNvSpPr txBox="1"/>
          <p:nvPr/>
        </p:nvSpPr>
        <p:spPr>
          <a:xfrm>
            <a:off x="4434840" y="3831336"/>
            <a:ext cx="4206240" cy="292608"/>
          </a:xfrm>
          <a:prstGeom prst="rect">
            <a:avLst/>
          </a:prstGeom>
          <a:noFill/>
          <a:ln/>
        </p:spPr>
        <p:txBody>
          <a:bodyPr wrap="square" lIns="0" tIns="0" rIns="0" bIns="0" rtlCol="0" anchor="t"/>
          <a:lstStyle/>
          <a:p>
            <a:pPr indent="0" marL="0">
              <a:buNone/>
            </a:pPr>
            <a:r>
              <a:rPr lang="en-US" sz="1600" b="1" dirty="0">
                <a:solidFill>
                  <a:schemeClr val="tx2"/>
                </a:solidFill>
                <a:latin typeface="General Sans" pitchFamily="34" charset="0"/>
                <a:ea typeface="General Sans" pitchFamily="34" charset="-122"/>
                <a:cs typeface="General Sans" pitchFamily="34" charset="-120"/>
              </a:rPr>
              <a:t>Impact and support</a:t>
            </a:r>
            <a:endParaRPr lang="en-US" sz="1600" dirty="0"/>
          </a:p>
        </p:txBody>
      </p:sp>
      <p:sp>
        <p:nvSpPr>
          <p:cNvPr id="20" name="Text 17"/>
          <p:cNvSpPr txBox="1"/>
          <p:nvPr/>
        </p:nvSpPr>
        <p:spPr>
          <a:xfrm>
            <a:off x="4434840" y="4142232"/>
            <a:ext cx="4206240" cy="274320"/>
          </a:xfrm>
          <a:prstGeom prst="rect">
            <a:avLst/>
          </a:prstGeom>
          <a:noFill/>
          <a:ln/>
        </p:spPr>
        <p:txBody>
          <a:bodyPr wrap="square" lIns="0" tIns="0" rIns="0" bIns="0" rtlCol="0" anchor="t"/>
          <a:lstStyle/>
          <a:p>
            <a:pPr indent="0" marL="0">
              <a:buNone/>
            </a:pPr>
            <a:r>
              <a:rPr lang="en-US" sz="1200" dirty="0">
                <a:solidFill>
                  <a:schemeClr val="accent4"/>
                </a:solidFill>
              </a:rPr>
              <a:t>One loop, the numbers to watch, and three asks.</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The plan is set. The gap is how the work gets done</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Cohort 49 intake closes on 29 November, and the plan rests on steady content and fast follow-up</a:t>
            </a:r>
            <a:endParaRPr lang="en-US" sz="1300" dirty="0"/>
          </a:p>
        </p:txBody>
      </p:sp>
      <p:pic>
        <p:nvPicPr>
          <p:cNvPr id="4" name="Hero card 1" descr="preencoded.png">    </p:cNvPr>
          <p:cNvPicPr>
            <a:picLocks noChangeAspect="1"/>
          </p:cNvPicPr>
          <p:nvPr/>
        </p:nvPicPr>
        <p:blipFill>
          <a:blip r:embed="rId1"/>
          <a:stretch>
            <a:fillRect/>
          </a:stretch>
        </p:blipFill>
        <p:spPr>
          <a:xfrm>
            <a:off x="457200" y="1783080"/>
            <a:ext cx="2560320" cy="2331720"/>
          </a:xfrm>
          <a:prstGeom prst="rect">
            <a:avLst/>
          </a:prstGeom>
        </p:spPr>
      </p:pic>
      <p:sp>
        <p:nvSpPr>
          <p:cNvPr id="5" name="Text 2"/>
          <p:cNvSpPr txBox="1"/>
          <p:nvPr/>
        </p:nvSpPr>
        <p:spPr>
          <a:xfrm>
            <a:off x="685800" y="1938528"/>
            <a:ext cx="2103120" cy="274320"/>
          </a:xfrm>
          <a:prstGeom prst="rect">
            <a:avLst/>
          </a:prstGeom>
          <a:noFill/>
          <a:ln/>
        </p:spPr>
        <p:txBody>
          <a:bodyPr wrap="square" lIns="0" tIns="0" rIns="0" bIns="0" rtlCol="0" anchor="t"/>
          <a:lstStyle/>
          <a:p>
            <a:pPr indent="0" marL="0">
              <a:buNone/>
            </a:pPr>
            <a:r>
              <a:rPr lang="en-US" sz="1300" dirty="0">
                <a:solidFill>
                  <a:schemeClr val="accent5"/>
                </a:solidFill>
              </a:rPr>
              <a:t>Social media's share</a:t>
            </a:r>
            <a:endParaRPr lang="en-US" sz="1300" dirty="0"/>
          </a:p>
        </p:txBody>
      </p:sp>
      <p:sp>
        <p:nvSpPr>
          <p:cNvPr id="6" name="Text 3"/>
          <p:cNvSpPr txBox="1"/>
          <p:nvPr/>
        </p:nvSpPr>
        <p:spPr>
          <a:xfrm>
            <a:off x="685800" y="2212848"/>
            <a:ext cx="2103120" cy="914400"/>
          </a:xfrm>
          <a:prstGeom prst="rect">
            <a:avLst/>
          </a:prstGeom>
          <a:noFill/>
          <a:ln/>
        </p:spPr>
        <p:txBody>
          <a:bodyPr wrap="square" lIns="0" tIns="0" rIns="0" bIns="0" rtlCol="0" anchor="ctr"/>
          <a:lstStyle/>
          <a:p>
            <a:pPr indent="0" marL="0">
              <a:buNone/>
            </a:pPr>
            <a:r>
              <a:rPr lang="en-US" sz="6600" dirty="0">
                <a:solidFill>
                  <a:schemeClr val="bg1"/>
                </a:solidFill>
                <a:latin typeface="Bebas Neue Regular" pitchFamily="34" charset="0"/>
                <a:ea typeface="Bebas Neue Regular" pitchFamily="34" charset="-122"/>
                <a:cs typeface="Bebas Neue Regular" pitchFamily="34" charset="-120"/>
              </a:rPr>
              <a:t>80%</a:t>
            </a:r>
            <a:endParaRPr lang="en-US" sz="6600" dirty="0"/>
          </a:p>
        </p:txBody>
      </p:sp>
      <p:sp>
        <p:nvSpPr>
          <p:cNvPr id="7" name="Text 4"/>
          <p:cNvSpPr txBox="1"/>
          <p:nvPr/>
        </p:nvSpPr>
        <p:spPr>
          <a:xfrm>
            <a:off x="685800" y="3200400"/>
            <a:ext cx="2103120" cy="777240"/>
          </a:xfrm>
          <a:prstGeom prst="rect">
            <a:avLst/>
          </a:prstGeom>
          <a:noFill/>
          <a:ln/>
        </p:spPr>
        <p:txBody>
          <a:bodyPr wrap="square" lIns="0" tIns="0" rIns="0" bIns="0" rtlCol="0" anchor="t"/>
          <a:lstStyle/>
          <a:p>
            <a:pPr indent="0" marL="0">
              <a:buNone/>
            </a:pPr>
            <a:r>
              <a:rPr lang="en-US" sz="1150" dirty="0">
                <a:solidFill>
                  <a:schemeClr val="bg1"/>
                </a:solidFill>
              </a:rPr>
              <a:t>of HRCC's marketing, carrying both HRCC and HRCC Consulting on the same pages</a:t>
            </a:r>
            <a:endParaRPr lang="en-US" sz="1150" dirty="0"/>
          </a:p>
        </p:txBody>
      </p:sp>
      <p:pic>
        <p:nvPicPr>
          <p:cNvPr id="8" name="Hero card 2" descr="preencoded.png">    </p:cNvPr>
          <p:cNvPicPr>
            <a:picLocks noChangeAspect="1"/>
          </p:cNvPicPr>
          <p:nvPr/>
        </p:nvPicPr>
        <p:blipFill>
          <a:blip r:embed="rId2"/>
          <a:stretch>
            <a:fillRect/>
          </a:stretch>
        </p:blipFill>
        <p:spPr>
          <a:xfrm>
            <a:off x="3291840" y="1783080"/>
            <a:ext cx="2560320" cy="2331720"/>
          </a:xfrm>
          <a:prstGeom prst="rect">
            <a:avLst/>
          </a:prstGeom>
        </p:spPr>
      </p:pic>
      <p:sp>
        <p:nvSpPr>
          <p:cNvPr id="9" name="Text 5"/>
          <p:cNvSpPr txBox="1"/>
          <p:nvPr/>
        </p:nvSpPr>
        <p:spPr>
          <a:xfrm>
            <a:off x="3520440" y="1938528"/>
            <a:ext cx="2103120" cy="274320"/>
          </a:xfrm>
          <a:prstGeom prst="rect">
            <a:avLst/>
          </a:prstGeom>
          <a:noFill/>
          <a:ln/>
        </p:spPr>
        <p:txBody>
          <a:bodyPr wrap="square" lIns="0" tIns="0" rIns="0" bIns="0" rtlCol="0" anchor="t"/>
          <a:lstStyle/>
          <a:p>
            <a:pPr indent="0" marL="0">
              <a:buNone/>
            </a:pPr>
            <a:r>
              <a:rPr lang="en-US" sz="1300" dirty="0">
                <a:solidFill>
                  <a:schemeClr val="accent5"/>
                </a:solidFill>
              </a:rPr>
              <a:t>Modules every weekend</a:t>
            </a:r>
            <a:endParaRPr lang="en-US" sz="1300" dirty="0"/>
          </a:p>
        </p:txBody>
      </p:sp>
      <p:sp>
        <p:nvSpPr>
          <p:cNvPr id="10" name="Text 6"/>
          <p:cNvSpPr txBox="1"/>
          <p:nvPr/>
        </p:nvSpPr>
        <p:spPr>
          <a:xfrm>
            <a:off x="3520440" y="2212848"/>
            <a:ext cx="2103120" cy="914400"/>
          </a:xfrm>
          <a:prstGeom prst="rect">
            <a:avLst/>
          </a:prstGeom>
          <a:noFill/>
          <a:ln/>
        </p:spPr>
        <p:txBody>
          <a:bodyPr wrap="square" lIns="0" tIns="0" rIns="0" bIns="0" rtlCol="0" anchor="ctr"/>
          <a:lstStyle/>
          <a:p>
            <a:pPr indent="0" marL="0">
              <a:buNone/>
            </a:pPr>
            <a:r>
              <a:rPr lang="en-US" sz="6600" dirty="0">
                <a:solidFill>
                  <a:schemeClr val="bg1"/>
                </a:solidFill>
                <a:latin typeface="Bebas Neue Regular" pitchFamily="34" charset="0"/>
                <a:ea typeface="Bebas Neue Regular" pitchFamily="34" charset="-122"/>
                <a:cs typeface="Bebas Neue Regular" pitchFamily="34" charset="-120"/>
              </a:rPr>
              <a:t>3</a:t>
            </a:r>
            <a:endParaRPr lang="en-US" sz="6600" dirty="0"/>
          </a:p>
        </p:txBody>
      </p:sp>
      <p:sp>
        <p:nvSpPr>
          <p:cNvPr id="11" name="Text 7"/>
          <p:cNvSpPr txBox="1"/>
          <p:nvPr/>
        </p:nvSpPr>
        <p:spPr>
          <a:xfrm>
            <a:off x="3520440" y="3200400"/>
            <a:ext cx="2103120" cy="777240"/>
          </a:xfrm>
          <a:prstGeom prst="rect">
            <a:avLst/>
          </a:prstGeom>
          <a:noFill/>
          <a:ln/>
        </p:spPr>
        <p:txBody>
          <a:bodyPr wrap="square" lIns="0" tIns="0" rIns="0" bIns="0" rtlCol="0" anchor="t"/>
          <a:lstStyle/>
          <a:p>
            <a:pPr indent="0" marL="0">
              <a:buNone/>
            </a:pPr>
            <a:r>
              <a:rPr lang="en-US" sz="1150" dirty="0">
                <a:solidFill>
                  <a:schemeClr val="bg1"/>
                </a:solidFill>
              </a:rPr>
              <a:t>of expert teaching, Saturdays in person and Sundays online, that our audience rarely sees</a:t>
            </a:r>
            <a:endParaRPr lang="en-US" sz="1150" dirty="0"/>
          </a:p>
        </p:txBody>
      </p:sp>
      <p:pic>
        <p:nvPicPr>
          <p:cNvPr id="12" name="Hero card 3" descr="preencoded.png">    </p:cNvPr>
          <p:cNvPicPr>
            <a:picLocks noChangeAspect="1"/>
          </p:cNvPicPr>
          <p:nvPr/>
        </p:nvPicPr>
        <p:blipFill>
          <a:blip r:embed="rId3"/>
          <a:stretch>
            <a:fillRect/>
          </a:stretch>
        </p:blipFill>
        <p:spPr>
          <a:xfrm>
            <a:off x="6126480" y="1783080"/>
            <a:ext cx="2560320" cy="2331720"/>
          </a:xfrm>
          <a:prstGeom prst="rect">
            <a:avLst/>
          </a:prstGeom>
        </p:spPr>
      </p:pic>
      <p:sp>
        <p:nvSpPr>
          <p:cNvPr id="13" name="Text 8"/>
          <p:cNvSpPr txBox="1"/>
          <p:nvPr/>
        </p:nvSpPr>
        <p:spPr>
          <a:xfrm>
            <a:off x="6355080" y="1938528"/>
            <a:ext cx="2103120" cy="274320"/>
          </a:xfrm>
          <a:prstGeom prst="rect">
            <a:avLst/>
          </a:prstGeom>
          <a:noFill/>
          <a:ln/>
        </p:spPr>
        <p:txBody>
          <a:bodyPr wrap="square" lIns="0" tIns="0" rIns="0" bIns="0" rtlCol="0" anchor="t"/>
          <a:lstStyle/>
          <a:p>
            <a:pPr indent="0" marL="0">
              <a:buNone/>
            </a:pPr>
            <a:r>
              <a:rPr lang="en-US" sz="1300" dirty="0">
                <a:solidFill>
                  <a:schemeClr val="accent5"/>
                </a:solidFill>
              </a:rPr>
              <a:t>Marketing officer</a:t>
            </a:r>
            <a:endParaRPr lang="en-US" sz="1300" dirty="0"/>
          </a:p>
        </p:txBody>
      </p:sp>
      <p:sp>
        <p:nvSpPr>
          <p:cNvPr id="14" name="Text 9"/>
          <p:cNvSpPr txBox="1"/>
          <p:nvPr/>
        </p:nvSpPr>
        <p:spPr>
          <a:xfrm>
            <a:off x="6355080" y="2212848"/>
            <a:ext cx="2103120" cy="914400"/>
          </a:xfrm>
          <a:prstGeom prst="rect">
            <a:avLst/>
          </a:prstGeom>
          <a:noFill/>
          <a:ln/>
        </p:spPr>
        <p:txBody>
          <a:bodyPr wrap="square" lIns="0" tIns="0" rIns="0" bIns="0" rtlCol="0" anchor="ctr"/>
          <a:lstStyle/>
          <a:p>
            <a:pPr indent="0" marL="0">
              <a:buNone/>
            </a:pPr>
            <a:r>
              <a:rPr lang="en-US" sz="6600" dirty="0">
                <a:solidFill>
                  <a:schemeClr val="bg1"/>
                </a:solidFill>
                <a:latin typeface="Bebas Neue Regular" pitchFamily="34" charset="0"/>
                <a:ea typeface="Bebas Neue Regular" pitchFamily="34" charset="-122"/>
                <a:cs typeface="Bebas Neue Regular" pitchFamily="34" charset="-120"/>
              </a:rPr>
              <a:t>1</a:t>
            </a:r>
            <a:endParaRPr lang="en-US" sz="6600" dirty="0"/>
          </a:p>
        </p:txBody>
      </p:sp>
      <p:sp>
        <p:nvSpPr>
          <p:cNvPr id="15" name="Text 10"/>
          <p:cNvSpPr txBox="1"/>
          <p:nvPr/>
        </p:nvSpPr>
        <p:spPr>
          <a:xfrm>
            <a:off x="6355080" y="3200400"/>
            <a:ext cx="2103120" cy="777240"/>
          </a:xfrm>
          <a:prstGeom prst="rect">
            <a:avLst/>
          </a:prstGeom>
          <a:noFill/>
          <a:ln/>
        </p:spPr>
        <p:txBody>
          <a:bodyPr wrap="square" lIns="0" tIns="0" rIns="0" bIns="0" rtlCol="0" anchor="t"/>
          <a:lstStyle/>
          <a:p>
            <a:pPr indent="0" marL="0">
              <a:buNone/>
            </a:pPr>
            <a:r>
              <a:rPr lang="en-US" sz="1150" dirty="0">
                <a:solidFill>
                  <a:schemeClr val="bg1"/>
                </a:solidFill>
              </a:rPr>
              <a:t>selling for every department, with a creative team stretched across many requests</a:t>
            </a:r>
            <a:endParaRPr lang="en-US" sz="1150" dirty="0"/>
          </a:p>
        </p:txBody>
      </p:sp>
      <p:sp>
        <p:nvSpPr>
          <p:cNvPr id="16" name="Text 11"/>
          <p:cNvSpPr txBox="1"/>
          <p:nvPr/>
        </p:nvSpPr>
        <p:spPr>
          <a:xfrm>
            <a:off x="457200" y="4279392"/>
            <a:ext cx="8229600" cy="411480"/>
          </a:xfrm>
          <a:prstGeom prst="rect">
            <a:avLst/>
          </a:prstGeom>
          <a:noFill/>
          <a:ln/>
        </p:spPr>
        <p:txBody>
          <a:bodyPr wrap="square" lIns="0" tIns="0" rIns="0" bIns="0" rtlCol="0" anchor="t"/>
          <a:lstStyle/>
          <a:p>
            <a:pPr indent="0" marL="0">
              <a:buNone/>
            </a:pPr>
            <a:r>
              <a:rPr lang="en-US" sz="1100" dirty="0">
                <a:solidFill>
                  <a:schemeClr val="accent4"/>
                </a:solidFill>
              </a:rPr>
              <a:t>The Cohort 49 plan already names facilitator content and tagged leads. These two innovations are the routines that make them happen every week, without extra people.</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Watermark"/>
          <p:cNvSpPr txBox="1"/>
          <p:nvPr/>
        </p:nvSpPr>
        <p:spPr>
          <a:xfrm>
            <a:off x="4023360" y="-182880"/>
            <a:ext cx="5303520" cy="5303520"/>
          </a:xfrm>
          <a:prstGeom prst="rect">
            <a:avLst/>
          </a:prstGeom>
          <a:noFill/>
          <a:ln/>
        </p:spPr>
        <p:txBody>
          <a:bodyPr wrap="square" lIns="0" tIns="0" rIns="0" bIns="0" rtlCol="0" anchor="ctr"/>
          <a:lstStyle/>
          <a:p>
            <a:pPr algn="r" indent="0" marL="0">
              <a:buNone/>
            </a:pPr>
            <a:r>
              <a:rPr lang="en-US" sz="30000" dirty="0">
                <a:solidFill>
                  <a:schemeClr val="bg1">
                    <a:alpha val="14000"/>
                  </a:schemeClr>
                </a:solidFill>
                <a:latin typeface="Bebas Neue Regular" pitchFamily="34" charset="0"/>
                <a:ea typeface="Bebas Neue Regular" pitchFamily="34" charset="-122"/>
                <a:cs typeface="Bebas Neue Regular" pitchFamily="34" charset="-120"/>
              </a:rPr>
              <a:t>01</a:t>
            </a:r>
            <a:endParaRPr lang="en-US" sz="30000" dirty="0"/>
          </a:p>
        </p:txBody>
      </p:sp>
      <p:sp>
        <p:nvSpPr>
          <p:cNvPr id="3" name="Text 1"/>
          <p:cNvSpPr txBox="1"/>
          <p:nvPr/>
        </p:nvSpPr>
        <p:spPr>
          <a:xfrm>
            <a:off x="457200" y="1600200"/>
            <a:ext cx="4572000" cy="365760"/>
          </a:xfrm>
          <a:prstGeom prst="rect">
            <a:avLst/>
          </a:prstGeom>
          <a:noFill/>
          <a:ln/>
        </p:spPr>
        <p:txBody>
          <a:bodyPr wrap="square" lIns="0" tIns="0" rIns="0" bIns="0" rtlCol="0" anchor="t"/>
          <a:lstStyle/>
          <a:p>
            <a:pPr indent="0" marL="0">
              <a:buNone/>
            </a:pPr>
            <a:r>
              <a:rPr lang="en-US" sz="1400" b="1" dirty="0">
                <a:solidFill>
                  <a:schemeClr val="accent3"/>
                </a:solidFill>
              </a:rPr>
              <a:t>Innovation 01</a:t>
            </a:r>
            <a:endParaRPr lang="en-US" sz="1400" dirty="0"/>
          </a:p>
        </p:txBody>
      </p:sp>
      <p:sp>
        <p:nvSpPr>
          <p:cNvPr id="4" name="Text 2"/>
          <p:cNvSpPr txBox="1"/>
          <p:nvPr/>
        </p:nvSpPr>
        <p:spPr>
          <a:xfrm>
            <a:off x="457200" y="1965960"/>
            <a:ext cx="5943600" cy="822960"/>
          </a:xfrm>
          <a:prstGeom prst="rect">
            <a:avLst/>
          </a:prstGeom>
          <a:noFill/>
          <a:ln/>
        </p:spPr>
        <p:txBody>
          <a:bodyPr wrap="square" lIns="0" tIns="0" rIns="0" bIns="0" rtlCol="0" anchor="ctr"/>
          <a:lstStyle/>
          <a:p>
            <a:pPr indent="0" marL="0">
              <a:buNone/>
            </a:pPr>
            <a:r>
              <a:rPr lang="en-US" sz="3800" b="1" dirty="0">
                <a:solidFill>
                  <a:schemeClr val="bg1"/>
                </a:solidFill>
                <a:latin typeface="General Sans" pitchFamily="34" charset="0"/>
                <a:ea typeface="General Sans" pitchFamily="34" charset="-122"/>
                <a:cs typeface="General Sans" pitchFamily="34" charset="-120"/>
              </a:rPr>
              <a:t>Classroom to Content</a:t>
            </a:r>
            <a:endParaRPr lang="en-US" sz="3800" dirty="0"/>
          </a:p>
        </p:txBody>
      </p:sp>
      <p:sp>
        <p:nvSpPr>
          <p:cNvPr id="5" name="Text 3"/>
          <p:cNvSpPr txBox="1"/>
          <p:nvPr/>
        </p:nvSpPr>
        <p:spPr>
          <a:xfrm>
            <a:off x="457200" y="2880360"/>
            <a:ext cx="5120640" cy="685800"/>
          </a:xfrm>
          <a:prstGeom prst="rect">
            <a:avLst/>
          </a:prstGeom>
          <a:noFill/>
          <a:ln/>
        </p:spPr>
        <p:txBody>
          <a:bodyPr wrap="square" lIns="0" tIns="0" rIns="0" bIns="0" rtlCol="0" anchor="t"/>
          <a:lstStyle/>
          <a:p>
            <a:pPr indent="0" marL="0">
              <a:buNone/>
            </a:pPr>
            <a:r>
              <a:rPr lang="en-US" sz="1500" dirty="0">
                <a:solidFill>
                  <a:schemeClr val="accent5"/>
                </a:solidFill>
              </a:rPr>
              <a:t>One 3-minute interview after every module becomes a week of value posts.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From the classroom to the feed in 48 hours</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1. The innovation  ·  2. The current gap</a:t>
            </a:r>
            <a:endParaRPr lang="en-US" sz="1300" dirty="0"/>
          </a:p>
        </p:txBody>
      </p:sp>
      <p:pic>
        <p:nvPicPr>
          <p:cNvPr id="4" name="Gap card" descr="preencoded.png">    </p:cNvPr>
          <p:cNvPicPr>
            <a:picLocks noChangeAspect="1"/>
          </p:cNvPicPr>
          <p:nvPr/>
        </p:nvPicPr>
        <p:blipFill>
          <a:blip r:embed="rId1"/>
          <a:stretch>
            <a:fillRect/>
          </a:stretch>
        </p:blipFill>
        <p:spPr>
          <a:xfrm>
            <a:off x="457200" y="1783080"/>
            <a:ext cx="3931920" cy="2697480"/>
          </a:xfrm>
          <a:prstGeom prst="rect">
            <a:avLst/>
          </a:prstGeom>
        </p:spPr>
      </p:pic>
      <p:sp>
        <p:nvSpPr>
          <p:cNvPr id="5" name="Text 2"/>
          <p:cNvSpPr txBox="1"/>
          <p:nvPr/>
        </p:nvSpPr>
        <p:spPr>
          <a:xfrm>
            <a:off x="685800" y="1938528"/>
            <a:ext cx="3474720" cy="320040"/>
          </a:xfrm>
          <a:prstGeom prst="rect">
            <a:avLst/>
          </a:prstGeom>
          <a:noFill/>
          <a:ln/>
        </p:spPr>
        <p:txBody>
          <a:bodyPr wrap="square" lIns="0" tIns="0" rIns="0" bIns="0" rtlCol="0" anchor="t"/>
          <a:lstStyle/>
          <a:p>
            <a:pPr indent="0" marL="0">
              <a:buNone/>
            </a:pPr>
            <a:r>
              <a:rPr lang="en-US" sz="1500" b="1" dirty="0">
                <a:solidFill>
                  <a:schemeClr val="tx2"/>
                </a:solidFill>
                <a:latin typeface="General Sans" pitchFamily="34" charset="0"/>
                <a:ea typeface="General Sans" pitchFamily="34" charset="-122"/>
                <a:cs typeface="General Sans" pitchFamily="34" charset="-120"/>
              </a:rPr>
              <a:t>The gap today</a:t>
            </a:r>
            <a:endParaRPr lang="en-US" sz="1500" dirty="0"/>
          </a:p>
        </p:txBody>
      </p:sp>
      <p:sp>
        <p:nvSpPr>
          <p:cNvPr id="6" name="Text 3"/>
          <p:cNvSpPr txBox="1"/>
          <p:nvPr/>
        </p:nvSpPr>
        <p:spPr>
          <a:xfrm>
            <a:off x="685800" y="2331720"/>
            <a:ext cx="3520440" cy="201168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Content waits on a creative team serving every department</a:t>
            </a:r>
            <a:endParaRPr lang="en-US" sz="1200" dirty="0"/>
          </a:p>
          <a:p>
            <a:pPr marL="152400" indent="-152400">
              <a:spcAft>
                <a:spcPts val="500"/>
              </a:spcAft>
              <a:buSzPct val="100000"/>
              <a:buChar char="•"/>
            </a:pPr>
            <a:r>
              <a:rPr lang="en-US" sz="1200" dirty="0">
                <a:solidFill>
                  <a:schemeClr val="tx1"/>
                </a:solidFill>
              </a:rPr>
              <a:t>The Wednesday shoot runs long and pulls staff away from their work</a:t>
            </a:r>
            <a:endParaRPr lang="en-US" sz="1200" dirty="0"/>
          </a:p>
          <a:p>
            <a:pPr marL="152400" indent="-152400">
              <a:spcAft>
                <a:spcPts val="500"/>
              </a:spcAft>
              <a:buSzPct val="100000"/>
              <a:buChar char="•"/>
            </a:pPr>
            <a:r>
              <a:rPr lang="en-US" sz="1200" dirty="0">
                <a:solidFill>
                  <a:schemeClr val="tx1"/>
                </a:solidFill>
              </a:rPr>
              <a:t>The feed mixes HRCC and Consulting, so it feels salesy</a:t>
            </a:r>
            <a:endParaRPr lang="en-US" sz="1200" dirty="0"/>
          </a:p>
          <a:p>
            <a:pPr marL="152400" indent="-152400">
              <a:spcAft>
                <a:spcPts val="500"/>
              </a:spcAft>
              <a:buSzPct val="100000"/>
              <a:buChar char="•"/>
            </a:pPr>
            <a:r>
              <a:rPr lang="en-US" sz="1200" dirty="0">
                <a:solidFill>
                  <a:schemeClr val="tx1"/>
                </a:solidFill>
              </a:rPr>
              <a:t>Planned facilitator content has no simple weekly routine behind it</a:t>
            </a:r>
            <a:endParaRPr lang="en-US" sz="1200" dirty="0"/>
          </a:p>
        </p:txBody>
      </p:sp>
      <p:pic>
        <p:nvPicPr>
          <p:cNvPr id="7" name="Innovation card" descr="preencoded.png">    </p:cNvPr>
          <p:cNvPicPr>
            <a:picLocks noChangeAspect="1"/>
          </p:cNvPicPr>
          <p:nvPr/>
        </p:nvPicPr>
        <p:blipFill>
          <a:blip r:embed="rId2"/>
          <a:stretch>
            <a:fillRect/>
          </a:stretch>
        </p:blipFill>
        <p:spPr>
          <a:xfrm>
            <a:off x="4572000" y="1783080"/>
            <a:ext cx="4114800" cy="2697480"/>
          </a:xfrm>
          <a:prstGeom prst="rect">
            <a:avLst/>
          </a:prstGeom>
        </p:spPr>
      </p:pic>
      <p:sp>
        <p:nvSpPr>
          <p:cNvPr id="8" name="Text 4"/>
          <p:cNvSpPr txBox="1"/>
          <p:nvPr/>
        </p:nvSpPr>
        <p:spPr>
          <a:xfrm>
            <a:off x="4800600" y="1938528"/>
            <a:ext cx="3657600" cy="274320"/>
          </a:xfrm>
          <a:prstGeom prst="rect">
            <a:avLst/>
          </a:prstGeom>
          <a:noFill/>
          <a:ln/>
        </p:spPr>
        <p:txBody>
          <a:bodyPr wrap="square" lIns="0" tIns="0" rIns="0" bIns="0" rtlCol="0" anchor="t"/>
          <a:lstStyle/>
          <a:p>
            <a:pPr indent="0" marL="0">
              <a:buNone/>
            </a:pPr>
            <a:r>
              <a:rPr lang="en-US" sz="1300" dirty="0">
                <a:solidFill>
                  <a:schemeClr val="accent5"/>
                </a:solidFill>
              </a:rPr>
              <a:t>The innovation</a:t>
            </a:r>
            <a:endParaRPr lang="en-US" sz="1300" dirty="0"/>
          </a:p>
        </p:txBody>
      </p:sp>
      <p:sp>
        <p:nvSpPr>
          <p:cNvPr id="9" name="Text 5"/>
          <p:cNvSpPr txBox="1"/>
          <p:nvPr/>
        </p:nvSpPr>
        <p:spPr>
          <a:xfrm>
            <a:off x="4800600" y="2240280"/>
            <a:ext cx="3657600" cy="1097280"/>
          </a:xfrm>
          <a:prstGeom prst="rect">
            <a:avLst/>
          </a:prstGeom>
          <a:noFill/>
          <a:ln/>
        </p:spPr>
        <p:txBody>
          <a:bodyPr wrap="square" lIns="0" tIns="0" rIns="0" bIns="0" rtlCol="0" anchor="t"/>
          <a:lstStyle/>
          <a:p>
            <a:pPr indent="0" marL="0">
              <a:buNone/>
            </a:pPr>
            <a:r>
              <a:rPr lang="en-US" sz="1300" dirty="0">
                <a:solidFill>
                  <a:schemeClr val="bg1"/>
                </a:solidFill>
              </a:rPr>
              <a:t>After every module, a 3-minute interview with the facilitator using three fixed questions. AI turns the transcript into a week of posts for the series Straight from the Classroom.</a:t>
            </a:r>
            <a:endParaRPr lang="en-US" sz="1300" dirty="0"/>
          </a:p>
        </p:txBody>
      </p:sp>
      <p:sp>
        <p:nvSpPr>
          <p:cNvPr id="10" name="Text 6"/>
          <p:cNvSpPr txBox="1"/>
          <p:nvPr/>
        </p:nvSpPr>
        <p:spPr>
          <a:xfrm>
            <a:off x="4800600" y="3429000"/>
            <a:ext cx="365760" cy="822960"/>
          </a:xfrm>
          <a:prstGeom prst="rect">
            <a:avLst/>
          </a:prstGeom>
          <a:noFill/>
          <a:ln/>
        </p:spPr>
        <p:txBody>
          <a:bodyPr wrap="square" lIns="0" tIns="0" rIns="0" bIns="0" rtlCol="0" anchor="ctr"/>
          <a:lstStyle/>
          <a:p>
            <a:pPr indent="0" marL="0">
              <a:buNone/>
            </a:pPr>
            <a:r>
              <a:rPr lang="en-US" sz="6000" dirty="0">
                <a:solidFill>
                  <a:schemeClr val="bg1"/>
                </a:solidFill>
                <a:latin typeface="Bebas Neue Regular" pitchFamily="34" charset="0"/>
                <a:ea typeface="Bebas Neue Regular" pitchFamily="34" charset="-122"/>
                <a:cs typeface="Bebas Neue Regular" pitchFamily="34" charset="-120"/>
              </a:rPr>
              <a:t>1</a:t>
            </a:r>
            <a:endParaRPr lang="en-US" sz="6000" dirty="0"/>
          </a:p>
        </p:txBody>
      </p:sp>
      <p:sp>
        <p:nvSpPr>
          <p:cNvPr id="11" name="Text 7"/>
          <p:cNvSpPr txBox="1"/>
          <p:nvPr/>
        </p:nvSpPr>
        <p:spPr>
          <a:xfrm>
            <a:off x="5212080" y="3730752"/>
            <a:ext cx="914400" cy="274320"/>
          </a:xfrm>
          <a:prstGeom prst="rect">
            <a:avLst/>
          </a:prstGeom>
          <a:noFill/>
          <a:ln/>
        </p:spPr>
        <p:txBody>
          <a:bodyPr wrap="square" lIns="0" tIns="0" rIns="0" bIns="0" rtlCol="0" anchor="t"/>
          <a:lstStyle/>
          <a:p>
            <a:pPr indent="0" marL="0">
              <a:buNone/>
            </a:pPr>
            <a:r>
              <a:rPr lang="en-US" sz="1100" dirty="0">
                <a:solidFill>
                  <a:schemeClr val="accent5"/>
                </a:solidFill>
              </a:rPr>
              <a:t>interview</a:t>
            </a:r>
            <a:endParaRPr lang="en-US" sz="1100" dirty="0"/>
          </a:p>
        </p:txBody>
      </p:sp>
      <p:pic>
        <p:nvPicPr>
          <p:cNvPr id="12" name="Image 2" descr="preencoded.png">    </p:cNvPr>
          <p:cNvPicPr>
            <a:picLocks noChangeAspect="1"/>
          </p:cNvPicPr>
          <p:nvPr/>
        </p:nvPicPr>
        <p:blipFill>
          <a:blip r:embed="rId3"/>
          <a:stretch>
            <a:fillRect/>
          </a:stretch>
        </p:blipFill>
        <p:spPr>
          <a:xfrm>
            <a:off x="6172200" y="3712464"/>
            <a:ext cx="292608" cy="292608"/>
          </a:xfrm>
          <a:prstGeom prst="rect">
            <a:avLst/>
          </a:prstGeom>
        </p:spPr>
      </p:pic>
      <p:sp>
        <p:nvSpPr>
          <p:cNvPr id="13" name="Text 8"/>
          <p:cNvSpPr txBox="1"/>
          <p:nvPr/>
        </p:nvSpPr>
        <p:spPr>
          <a:xfrm>
            <a:off x="6629400" y="3429000"/>
            <a:ext cx="685800" cy="822960"/>
          </a:xfrm>
          <a:prstGeom prst="rect">
            <a:avLst/>
          </a:prstGeom>
          <a:noFill/>
          <a:ln/>
        </p:spPr>
        <p:txBody>
          <a:bodyPr wrap="square" lIns="0" tIns="0" rIns="0" bIns="0" rtlCol="0" anchor="ctr"/>
          <a:lstStyle/>
          <a:p>
            <a:pPr indent="0" marL="0">
              <a:buNone/>
            </a:pPr>
            <a:r>
              <a:rPr lang="en-US" sz="6000" dirty="0">
                <a:solidFill>
                  <a:schemeClr val="accent3"/>
                </a:solidFill>
                <a:latin typeface="Bebas Neue Regular" pitchFamily="34" charset="0"/>
                <a:ea typeface="Bebas Neue Regular" pitchFamily="34" charset="-122"/>
                <a:cs typeface="Bebas Neue Regular" pitchFamily="34" charset="-120"/>
              </a:rPr>
              <a:t>4+</a:t>
            </a:r>
            <a:endParaRPr lang="en-US" sz="6000" dirty="0"/>
          </a:p>
        </p:txBody>
      </p:sp>
      <p:sp>
        <p:nvSpPr>
          <p:cNvPr id="14" name="Text 9"/>
          <p:cNvSpPr txBox="1"/>
          <p:nvPr/>
        </p:nvSpPr>
        <p:spPr>
          <a:xfrm>
            <a:off x="7360920" y="3639312"/>
            <a:ext cx="1188720" cy="457200"/>
          </a:xfrm>
          <a:prstGeom prst="rect">
            <a:avLst/>
          </a:prstGeom>
          <a:noFill/>
          <a:ln/>
        </p:spPr>
        <p:txBody>
          <a:bodyPr wrap="square" lIns="0" tIns="0" rIns="0" bIns="0" rtlCol="0" anchor="t"/>
          <a:lstStyle/>
          <a:p>
            <a:pPr indent="0" marL="0">
              <a:buNone/>
            </a:pPr>
            <a:r>
              <a:rPr lang="en-US" sz="1100" dirty="0">
                <a:solidFill>
                  <a:schemeClr val="accent5"/>
                </a:solidFill>
              </a:rPr>
              <a:t>posts across</a:t>
            </a:r>
            <a:endParaRPr lang="en-US" sz="1100" dirty="0"/>
          </a:p>
          <a:p>
            <a:pPr indent="0" marL="0">
              <a:buNone/>
            </a:pPr>
            <a:r>
              <a:rPr lang="en-US" sz="1100" dirty="0">
                <a:solidFill>
                  <a:schemeClr val="accent5"/>
                </a:solidFill>
              </a:rPr>
              <a:t>our channels</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One weekly rhythm, about an hour of my time</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4. Action plan</a:t>
            </a:r>
            <a:endParaRPr lang="en-US" sz="1300" dirty="0"/>
          </a:p>
        </p:txBody>
      </p:sp>
      <p:pic>
        <p:nvPicPr>
          <p:cNvPr id="4" name="Step 1" descr="preencoded.png">    </p:cNvPr>
          <p:cNvPicPr>
            <a:picLocks noChangeAspect="1"/>
          </p:cNvPicPr>
          <p:nvPr/>
        </p:nvPicPr>
        <p:blipFill>
          <a:blip r:embed="rId1"/>
          <a:stretch>
            <a:fillRect/>
          </a:stretch>
        </p:blipFill>
        <p:spPr>
          <a:xfrm>
            <a:off x="457200" y="1737360"/>
            <a:ext cx="1920240" cy="2103120"/>
          </a:xfrm>
          <a:prstGeom prst="rect">
            <a:avLst/>
          </a:prstGeom>
        </p:spPr>
      </p:pic>
      <p:pic>
        <p:nvPicPr>
          <p:cNvPr id="5" name="Image 1" descr="preencoded.png">    </p:cNvPr>
          <p:cNvPicPr>
            <a:picLocks noChangeAspect="1"/>
          </p:cNvPicPr>
          <p:nvPr/>
        </p:nvPicPr>
        <p:blipFill>
          <a:blip r:embed="rId2"/>
          <a:stretch>
            <a:fillRect/>
          </a:stretch>
        </p:blipFill>
        <p:spPr>
          <a:xfrm>
            <a:off x="640080" y="1892808"/>
            <a:ext cx="384048" cy="384048"/>
          </a:xfrm>
          <a:prstGeom prst="rect">
            <a:avLst/>
          </a:prstGeom>
        </p:spPr>
      </p:pic>
      <p:sp>
        <p:nvSpPr>
          <p:cNvPr id="6" name="Text 2"/>
          <p:cNvSpPr txBox="1"/>
          <p:nvPr/>
        </p:nvSpPr>
        <p:spPr>
          <a:xfrm>
            <a:off x="1115568" y="1874520"/>
            <a:ext cx="1188720" cy="246888"/>
          </a:xfrm>
          <a:prstGeom prst="rect">
            <a:avLst/>
          </a:prstGeom>
          <a:noFill/>
          <a:ln/>
        </p:spPr>
        <p:txBody>
          <a:bodyPr wrap="square" lIns="0" tIns="0" rIns="0" bIns="0" rtlCol="0" anchor="t"/>
          <a:lstStyle/>
          <a:p>
            <a:pPr indent="0" marL="0">
              <a:buNone/>
            </a:pPr>
            <a:r>
              <a:rPr lang="en-US" sz="1300" b="1" dirty="0">
                <a:solidFill>
                  <a:schemeClr val="bg1"/>
                </a:solidFill>
                <a:latin typeface="General Sans" pitchFamily="34" charset="0"/>
                <a:ea typeface="General Sans" pitchFamily="34" charset="-122"/>
                <a:cs typeface="General Sans" pitchFamily="34" charset="-120"/>
              </a:rPr>
              <a:t>Saturday</a:t>
            </a:r>
            <a:endParaRPr lang="en-US" sz="1300" dirty="0"/>
          </a:p>
        </p:txBody>
      </p:sp>
      <p:sp>
        <p:nvSpPr>
          <p:cNvPr id="7" name="Text 3"/>
          <p:cNvSpPr txBox="1"/>
          <p:nvPr/>
        </p:nvSpPr>
        <p:spPr>
          <a:xfrm>
            <a:off x="1115568" y="2103120"/>
            <a:ext cx="1188720" cy="201168"/>
          </a:xfrm>
          <a:prstGeom prst="rect">
            <a:avLst/>
          </a:prstGeom>
          <a:noFill/>
          <a:ln/>
        </p:spPr>
        <p:txBody>
          <a:bodyPr wrap="square" lIns="0" tIns="0" rIns="0" bIns="0" rtlCol="0" anchor="t"/>
          <a:lstStyle/>
          <a:p>
            <a:pPr indent="0" marL="0">
              <a:buNone/>
            </a:pPr>
            <a:r>
              <a:rPr lang="en-US" sz="1050" dirty="0">
                <a:solidFill>
                  <a:schemeClr val="accent3"/>
                </a:solidFill>
              </a:rPr>
              <a:t>In person</a:t>
            </a:r>
            <a:endParaRPr lang="en-US" sz="1050" dirty="0"/>
          </a:p>
        </p:txBody>
      </p:sp>
      <p:sp>
        <p:nvSpPr>
          <p:cNvPr id="8" name="Text 4"/>
          <p:cNvSpPr txBox="1"/>
          <p:nvPr/>
        </p:nvSpPr>
        <p:spPr>
          <a:xfrm>
            <a:off x="640080" y="2450592"/>
            <a:ext cx="1572768" cy="1325880"/>
          </a:xfrm>
          <a:prstGeom prst="rect">
            <a:avLst/>
          </a:prstGeom>
          <a:noFill/>
          <a:ln/>
        </p:spPr>
        <p:txBody>
          <a:bodyPr wrap="square" lIns="0" tIns="0" rIns="0" bIns="0" rtlCol="0" anchor="t"/>
          <a:lstStyle/>
          <a:p>
            <a:pPr indent="0" marL="0">
              <a:buNone/>
            </a:pPr>
            <a:r>
              <a:rPr lang="en-US" sz="1100" dirty="0">
                <a:solidFill>
                  <a:schemeClr val="bg1"/>
                </a:solidFill>
              </a:rPr>
              <a:t>Phone on a tripod with a clip-on mic. Three minutes after class. A programme officer films if I can't attend.</a:t>
            </a:r>
            <a:endParaRPr lang="en-US" sz="1100" dirty="0"/>
          </a:p>
        </p:txBody>
      </p:sp>
      <p:pic>
        <p:nvPicPr>
          <p:cNvPr id="9" name="Step 2" descr="preencoded.png">    </p:cNvPr>
          <p:cNvPicPr>
            <a:picLocks noChangeAspect="1"/>
          </p:cNvPicPr>
          <p:nvPr/>
        </p:nvPicPr>
        <p:blipFill>
          <a:blip r:embed="rId3"/>
          <a:stretch>
            <a:fillRect/>
          </a:stretch>
        </p:blipFill>
        <p:spPr>
          <a:xfrm>
            <a:off x="2560320" y="1737360"/>
            <a:ext cx="1920240" cy="2103120"/>
          </a:xfrm>
          <a:prstGeom prst="rect">
            <a:avLst/>
          </a:prstGeom>
        </p:spPr>
      </p:pic>
      <p:pic>
        <p:nvPicPr>
          <p:cNvPr id="10" name="Image 3" descr="preencoded.png">    </p:cNvPr>
          <p:cNvPicPr>
            <a:picLocks noChangeAspect="1"/>
          </p:cNvPicPr>
          <p:nvPr/>
        </p:nvPicPr>
        <p:blipFill>
          <a:blip r:embed="rId4"/>
          <a:stretch>
            <a:fillRect/>
          </a:stretch>
        </p:blipFill>
        <p:spPr>
          <a:xfrm>
            <a:off x="2743200" y="1892808"/>
            <a:ext cx="384048" cy="384048"/>
          </a:xfrm>
          <a:prstGeom prst="rect">
            <a:avLst/>
          </a:prstGeom>
        </p:spPr>
      </p:pic>
      <p:sp>
        <p:nvSpPr>
          <p:cNvPr id="11" name="Text 5"/>
          <p:cNvSpPr txBox="1"/>
          <p:nvPr/>
        </p:nvSpPr>
        <p:spPr>
          <a:xfrm>
            <a:off x="3218688" y="1874520"/>
            <a:ext cx="1188720" cy="246888"/>
          </a:xfrm>
          <a:prstGeom prst="rect">
            <a:avLst/>
          </a:prstGeom>
          <a:noFill/>
          <a:ln/>
        </p:spPr>
        <p:txBody>
          <a:bodyPr wrap="square" lIns="0" tIns="0" rIns="0" bIns="0" rtlCol="0" anchor="t"/>
          <a:lstStyle/>
          <a:p>
            <a:pPr indent="0" marL="0">
              <a:buNone/>
            </a:pPr>
            <a:r>
              <a:rPr lang="en-US" sz="1300" b="1" dirty="0">
                <a:solidFill>
                  <a:schemeClr val="bg1"/>
                </a:solidFill>
                <a:latin typeface="General Sans" pitchFamily="34" charset="0"/>
                <a:ea typeface="General Sans" pitchFamily="34" charset="-122"/>
                <a:cs typeface="General Sans" pitchFamily="34" charset="-120"/>
              </a:rPr>
              <a:t>Sunday</a:t>
            </a:r>
            <a:endParaRPr lang="en-US" sz="1300" dirty="0"/>
          </a:p>
        </p:txBody>
      </p:sp>
      <p:sp>
        <p:nvSpPr>
          <p:cNvPr id="12" name="Text 6"/>
          <p:cNvSpPr txBox="1"/>
          <p:nvPr/>
        </p:nvSpPr>
        <p:spPr>
          <a:xfrm>
            <a:off x="3218688" y="2103120"/>
            <a:ext cx="1188720" cy="201168"/>
          </a:xfrm>
          <a:prstGeom prst="rect">
            <a:avLst/>
          </a:prstGeom>
          <a:noFill/>
          <a:ln/>
        </p:spPr>
        <p:txBody>
          <a:bodyPr wrap="square" lIns="0" tIns="0" rIns="0" bIns="0" rtlCol="0" anchor="t"/>
          <a:lstStyle/>
          <a:p>
            <a:pPr indent="0" marL="0">
              <a:buNone/>
            </a:pPr>
            <a:r>
              <a:rPr lang="en-US" sz="1050" dirty="0">
                <a:solidFill>
                  <a:schemeClr val="accent3"/>
                </a:solidFill>
              </a:rPr>
              <a:t>Online</a:t>
            </a:r>
            <a:endParaRPr lang="en-US" sz="1050" dirty="0"/>
          </a:p>
        </p:txBody>
      </p:sp>
      <p:sp>
        <p:nvSpPr>
          <p:cNvPr id="13" name="Text 7"/>
          <p:cNvSpPr txBox="1"/>
          <p:nvPr/>
        </p:nvSpPr>
        <p:spPr>
          <a:xfrm>
            <a:off x="2743200" y="2450592"/>
            <a:ext cx="1572768" cy="1325880"/>
          </a:xfrm>
          <a:prstGeom prst="rect">
            <a:avLst/>
          </a:prstGeom>
          <a:noFill/>
          <a:ln/>
        </p:spPr>
        <p:txBody>
          <a:bodyPr wrap="square" lIns="0" tIns="0" rIns="0" bIns="0" rtlCol="0" anchor="t"/>
          <a:lstStyle/>
          <a:p>
            <a:pPr indent="0" marL="0">
              <a:buNone/>
            </a:pPr>
            <a:r>
              <a:rPr lang="en-US" sz="1100" dirty="0">
                <a:solidFill>
                  <a:schemeClr val="bg1"/>
                </a:solidFill>
              </a:rPr>
              <a:t>The facilitator stays on the call after participants leave. I join from home and record.</a:t>
            </a:r>
            <a:endParaRPr lang="en-US" sz="1100" dirty="0"/>
          </a:p>
        </p:txBody>
      </p:sp>
      <p:pic>
        <p:nvPicPr>
          <p:cNvPr id="14" name="Step 3" descr="preencoded.png">    </p:cNvPr>
          <p:cNvPicPr>
            <a:picLocks noChangeAspect="1"/>
          </p:cNvPicPr>
          <p:nvPr/>
        </p:nvPicPr>
        <p:blipFill>
          <a:blip r:embed="rId5"/>
          <a:stretch>
            <a:fillRect/>
          </a:stretch>
        </p:blipFill>
        <p:spPr>
          <a:xfrm>
            <a:off x="4663440" y="1737360"/>
            <a:ext cx="1920240" cy="2103120"/>
          </a:xfrm>
          <a:prstGeom prst="rect">
            <a:avLst/>
          </a:prstGeom>
        </p:spPr>
      </p:pic>
      <p:pic>
        <p:nvPicPr>
          <p:cNvPr id="15" name="Image 5" descr="preencoded.png">    </p:cNvPr>
          <p:cNvPicPr>
            <a:picLocks noChangeAspect="1"/>
          </p:cNvPicPr>
          <p:nvPr/>
        </p:nvPicPr>
        <p:blipFill>
          <a:blip r:embed="rId6"/>
          <a:stretch>
            <a:fillRect/>
          </a:stretch>
        </p:blipFill>
        <p:spPr>
          <a:xfrm>
            <a:off x="4846320" y="1892808"/>
            <a:ext cx="384048" cy="384048"/>
          </a:xfrm>
          <a:prstGeom prst="rect">
            <a:avLst/>
          </a:prstGeom>
        </p:spPr>
      </p:pic>
      <p:sp>
        <p:nvSpPr>
          <p:cNvPr id="16" name="Text 8"/>
          <p:cNvSpPr txBox="1"/>
          <p:nvPr/>
        </p:nvSpPr>
        <p:spPr>
          <a:xfrm>
            <a:off x="5321808" y="1874520"/>
            <a:ext cx="1188720" cy="246888"/>
          </a:xfrm>
          <a:prstGeom prst="rect">
            <a:avLst/>
          </a:prstGeom>
          <a:noFill/>
          <a:ln/>
        </p:spPr>
        <p:txBody>
          <a:bodyPr wrap="square" lIns="0" tIns="0" rIns="0" bIns="0" rtlCol="0" anchor="t"/>
          <a:lstStyle/>
          <a:p>
            <a:pPr indent="0" marL="0">
              <a:buNone/>
            </a:pPr>
            <a:r>
              <a:rPr lang="en-US" sz="1300" b="1" dirty="0">
                <a:solidFill>
                  <a:schemeClr val="bg1"/>
                </a:solidFill>
                <a:latin typeface="General Sans" pitchFamily="34" charset="0"/>
                <a:ea typeface="General Sans" pitchFamily="34" charset="-122"/>
                <a:cs typeface="General Sans" pitchFamily="34" charset="-120"/>
              </a:rPr>
              <a:t>Monday</a:t>
            </a:r>
            <a:endParaRPr lang="en-US" sz="1300" dirty="0"/>
          </a:p>
        </p:txBody>
      </p:sp>
      <p:sp>
        <p:nvSpPr>
          <p:cNvPr id="17" name="Text 9"/>
          <p:cNvSpPr txBox="1"/>
          <p:nvPr/>
        </p:nvSpPr>
        <p:spPr>
          <a:xfrm>
            <a:off x="5321808" y="2103120"/>
            <a:ext cx="1188720" cy="201168"/>
          </a:xfrm>
          <a:prstGeom prst="rect">
            <a:avLst/>
          </a:prstGeom>
          <a:noFill/>
          <a:ln/>
        </p:spPr>
        <p:txBody>
          <a:bodyPr wrap="square" lIns="0" tIns="0" rIns="0" bIns="0" rtlCol="0" anchor="t"/>
          <a:lstStyle/>
          <a:p>
            <a:pPr indent="0" marL="0">
              <a:buNone/>
            </a:pPr>
            <a:r>
              <a:rPr lang="en-US" sz="1050" dirty="0">
                <a:solidFill>
                  <a:schemeClr val="accent3"/>
                </a:solidFill>
              </a:rPr>
              <a:t>Process</a:t>
            </a:r>
            <a:endParaRPr lang="en-US" sz="1050" dirty="0"/>
          </a:p>
        </p:txBody>
      </p:sp>
      <p:sp>
        <p:nvSpPr>
          <p:cNvPr id="18" name="Text 10"/>
          <p:cNvSpPr txBox="1"/>
          <p:nvPr/>
        </p:nvSpPr>
        <p:spPr>
          <a:xfrm>
            <a:off x="4846320" y="2450592"/>
            <a:ext cx="1572768" cy="1325880"/>
          </a:xfrm>
          <a:prstGeom prst="rect">
            <a:avLst/>
          </a:prstGeom>
          <a:noFill/>
          <a:ln/>
        </p:spPr>
        <p:txBody>
          <a:bodyPr wrap="square" lIns="0" tIns="0" rIns="0" bIns="0" rtlCol="0" anchor="t"/>
          <a:lstStyle/>
          <a:p>
            <a:pPr indent="0" marL="0">
              <a:buNone/>
            </a:pPr>
            <a:r>
              <a:rPr lang="en-US" sz="1100" dirty="0">
                <a:solidFill>
                  <a:schemeClr val="bg1"/>
                </a:solidFill>
              </a:rPr>
              <a:t>CapCut adds captions. AI drafts the caption, LinkedIn post and quote cards. I edit and approve.</a:t>
            </a:r>
            <a:endParaRPr lang="en-US" sz="1100" dirty="0"/>
          </a:p>
        </p:txBody>
      </p:sp>
      <p:pic>
        <p:nvPicPr>
          <p:cNvPr id="19" name="Step 4" descr="preencoded.png">    </p:cNvPr>
          <p:cNvPicPr>
            <a:picLocks noChangeAspect="1"/>
          </p:cNvPicPr>
          <p:nvPr/>
        </p:nvPicPr>
        <p:blipFill>
          <a:blip r:embed="rId7"/>
          <a:stretch>
            <a:fillRect/>
          </a:stretch>
        </p:blipFill>
        <p:spPr>
          <a:xfrm>
            <a:off x="6766560" y="1737360"/>
            <a:ext cx="1920240" cy="2103120"/>
          </a:xfrm>
          <a:prstGeom prst="rect">
            <a:avLst/>
          </a:prstGeom>
        </p:spPr>
      </p:pic>
      <p:pic>
        <p:nvPicPr>
          <p:cNvPr id="20" name="Image 7" descr="preencoded.png">    </p:cNvPr>
          <p:cNvPicPr>
            <a:picLocks noChangeAspect="1"/>
          </p:cNvPicPr>
          <p:nvPr/>
        </p:nvPicPr>
        <p:blipFill>
          <a:blip r:embed="rId8"/>
          <a:stretch>
            <a:fillRect/>
          </a:stretch>
        </p:blipFill>
        <p:spPr>
          <a:xfrm>
            <a:off x="6949440" y="1892808"/>
            <a:ext cx="384048" cy="384048"/>
          </a:xfrm>
          <a:prstGeom prst="rect">
            <a:avLst/>
          </a:prstGeom>
        </p:spPr>
      </p:pic>
      <p:sp>
        <p:nvSpPr>
          <p:cNvPr id="21" name="Text 11"/>
          <p:cNvSpPr txBox="1"/>
          <p:nvPr/>
        </p:nvSpPr>
        <p:spPr>
          <a:xfrm>
            <a:off x="7424928" y="1874520"/>
            <a:ext cx="1188720" cy="246888"/>
          </a:xfrm>
          <a:prstGeom prst="rect">
            <a:avLst/>
          </a:prstGeom>
          <a:noFill/>
          <a:ln/>
        </p:spPr>
        <p:txBody>
          <a:bodyPr wrap="square" lIns="0" tIns="0" rIns="0" bIns="0" rtlCol="0" anchor="t"/>
          <a:lstStyle/>
          <a:p>
            <a:pPr indent="0" marL="0">
              <a:buNone/>
            </a:pPr>
            <a:r>
              <a:rPr lang="en-US" sz="1300" b="1" dirty="0">
                <a:solidFill>
                  <a:schemeClr val="bg1"/>
                </a:solidFill>
                <a:latin typeface="General Sans" pitchFamily="34" charset="0"/>
                <a:ea typeface="General Sans" pitchFamily="34" charset="-122"/>
                <a:cs typeface="General Sans" pitchFamily="34" charset="-120"/>
              </a:rPr>
              <a:t>Tue to Sun</a:t>
            </a:r>
            <a:endParaRPr lang="en-US" sz="1300" dirty="0"/>
          </a:p>
        </p:txBody>
      </p:sp>
      <p:sp>
        <p:nvSpPr>
          <p:cNvPr id="22" name="Text 12"/>
          <p:cNvSpPr txBox="1"/>
          <p:nvPr/>
        </p:nvSpPr>
        <p:spPr>
          <a:xfrm>
            <a:off x="7424928" y="2103120"/>
            <a:ext cx="1188720" cy="201168"/>
          </a:xfrm>
          <a:prstGeom prst="rect">
            <a:avLst/>
          </a:prstGeom>
          <a:noFill/>
          <a:ln/>
        </p:spPr>
        <p:txBody>
          <a:bodyPr wrap="square" lIns="0" tIns="0" rIns="0" bIns="0" rtlCol="0" anchor="t"/>
          <a:lstStyle/>
          <a:p>
            <a:pPr indent="0" marL="0">
              <a:buNone/>
            </a:pPr>
            <a:r>
              <a:rPr lang="en-US" sz="1050" dirty="0">
                <a:solidFill>
                  <a:schemeClr val="accent3"/>
                </a:solidFill>
              </a:rPr>
              <a:t>Publish</a:t>
            </a:r>
            <a:endParaRPr lang="en-US" sz="1050" dirty="0"/>
          </a:p>
        </p:txBody>
      </p:sp>
      <p:sp>
        <p:nvSpPr>
          <p:cNvPr id="23" name="Text 13"/>
          <p:cNvSpPr txBox="1"/>
          <p:nvPr/>
        </p:nvSpPr>
        <p:spPr>
          <a:xfrm>
            <a:off x="6949440" y="2450592"/>
            <a:ext cx="1572768" cy="1325880"/>
          </a:xfrm>
          <a:prstGeom prst="rect">
            <a:avLst/>
          </a:prstGeom>
          <a:noFill/>
          <a:ln/>
        </p:spPr>
        <p:txBody>
          <a:bodyPr wrap="square" lIns="0" tIns="0" rIns="0" bIns="0" rtlCol="0" anchor="t"/>
          <a:lstStyle/>
          <a:p>
            <a:pPr indent="0" marL="0">
              <a:buNone/>
            </a:pPr>
            <a:r>
              <a:rPr lang="en-US" sz="1100" dirty="0">
                <a:solidFill>
                  <a:schemeClr val="bg1"/>
                </a:solidFill>
              </a:rPr>
              <a:t>Meta Business Suite for Facebook and Instagram, Buffer for LinkedIn. Each post ends with a keyword prompt.</a:t>
            </a:r>
            <a:endParaRPr lang="en-US" sz="1100" dirty="0"/>
          </a:p>
        </p:txBody>
      </p:sp>
      <p:pic>
        <p:nvPicPr>
          <p:cNvPr id="24" name="Questions strip" descr="preencoded.png">    </p:cNvPr>
          <p:cNvPicPr>
            <a:picLocks noChangeAspect="1"/>
          </p:cNvPicPr>
          <p:nvPr/>
        </p:nvPicPr>
        <p:blipFill>
          <a:blip r:embed="rId9"/>
          <a:stretch>
            <a:fillRect/>
          </a:stretch>
        </p:blipFill>
        <p:spPr>
          <a:xfrm>
            <a:off x="457200" y="4005072"/>
            <a:ext cx="8229600" cy="749808"/>
          </a:xfrm>
          <a:prstGeom prst="rect">
            <a:avLst/>
          </a:prstGeom>
        </p:spPr>
      </p:pic>
      <p:sp>
        <p:nvSpPr>
          <p:cNvPr id="25" name="Text 14"/>
          <p:cNvSpPr txBox="1"/>
          <p:nvPr/>
        </p:nvSpPr>
        <p:spPr>
          <a:xfrm>
            <a:off x="685800" y="4087368"/>
            <a:ext cx="2743200" cy="256032"/>
          </a:xfrm>
          <a:prstGeom prst="rect">
            <a:avLst/>
          </a:prstGeom>
          <a:noFill/>
          <a:ln/>
        </p:spPr>
        <p:txBody>
          <a:bodyPr wrap="square" lIns="0" tIns="0" rIns="0" bIns="0" rtlCol="0" anchor="t"/>
          <a:lstStyle/>
          <a:p>
            <a:pPr indent="0" marL="0">
              <a:buNone/>
            </a:pPr>
            <a:r>
              <a:rPr lang="en-US" sz="1200" b="1" dirty="0">
                <a:solidFill>
                  <a:schemeClr val="tx2"/>
                </a:solidFill>
              </a:rPr>
              <a:t>The same three questions</a:t>
            </a:r>
            <a:endParaRPr lang="en-US" sz="1200" dirty="0"/>
          </a:p>
        </p:txBody>
      </p:sp>
      <p:sp>
        <p:nvSpPr>
          <p:cNvPr id="26" name="Text 15"/>
          <p:cNvSpPr txBox="1"/>
          <p:nvPr/>
        </p:nvSpPr>
        <p:spPr>
          <a:xfrm>
            <a:off x="685800" y="4352544"/>
            <a:ext cx="274320" cy="274320"/>
          </a:xfrm>
          <a:prstGeom prst="rect">
            <a:avLst/>
          </a:prstGeom>
          <a:noFill/>
          <a:ln/>
        </p:spPr>
        <p:txBody>
          <a:bodyPr wrap="square" lIns="0" tIns="0" rIns="0" bIns="0" rtlCol="0" anchor="ctr"/>
          <a:lstStyle/>
          <a:p>
            <a:pPr indent="0" marL="0">
              <a:buNone/>
            </a:pPr>
            <a:r>
              <a:rPr lang="en-US" sz="2000" dirty="0">
                <a:solidFill>
                  <a:schemeClr val="accent1"/>
                </a:solidFill>
                <a:latin typeface="Bebas Neue Regular" pitchFamily="34" charset="0"/>
                <a:ea typeface="Bebas Neue Regular" pitchFamily="34" charset="-122"/>
                <a:cs typeface="Bebas Neue Regular" pitchFamily="34" charset="-120"/>
              </a:rPr>
              <a:t>1</a:t>
            </a:r>
            <a:endParaRPr lang="en-US" sz="2000" dirty="0"/>
          </a:p>
        </p:txBody>
      </p:sp>
      <p:sp>
        <p:nvSpPr>
          <p:cNvPr id="27" name="Text 16"/>
          <p:cNvSpPr txBox="1"/>
          <p:nvPr/>
        </p:nvSpPr>
        <p:spPr>
          <a:xfrm>
            <a:off x="960120" y="4352544"/>
            <a:ext cx="2286000" cy="274320"/>
          </a:xfrm>
          <a:prstGeom prst="rect">
            <a:avLst/>
          </a:prstGeom>
          <a:noFill/>
          <a:ln/>
        </p:spPr>
        <p:txBody>
          <a:bodyPr wrap="square" lIns="0" tIns="0" rIns="0" bIns="0" rtlCol="0" anchor="ctr"/>
          <a:lstStyle/>
          <a:p>
            <a:pPr indent="0" marL="0">
              <a:buNone/>
            </a:pPr>
            <a:r>
              <a:rPr lang="en-US" sz="1100" dirty="0">
                <a:solidFill>
                  <a:schemeClr val="tx1"/>
                </a:solidFill>
              </a:rPr>
              <a:t>One idea to use on Monday?</a:t>
            </a:r>
            <a:endParaRPr lang="en-US" sz="1100" dirty="0"/>
          </a:p>
        </p:txBody>
      </p:sp>
      <p:sp>
        <p:nvSpPr>
          <p:cNvPr id="28" name="Text 17"/>
          <p:cNvSpPr txBox="1"/>
          <p:nvPr/>
        </p:nvSpPr>
        <p:spPr>
          <a:xfrm>
            <a:off x="3383280" y="4352544"/>
            <a:ext cx="274320" cy="274320"/>
          </a:xfrm>
          <a:prstGeom prst="rect">
            <a:avLst/>
          </a:prstGeom>
          <a:noFill/>
          <a:ln/>
        </p:spPr>
        <p:txBody>
          <a:bodyPr wrap="square" lIns="0" tIns="0" rIns="0" bIns="0" rtlCol="0" anchor="ctr"/>
          <a:lstStyle/>
          <a:p>
            <a:pPr indent="0" marL="0">
              <a:buNone/>
            </a:pPr>
            <a:r>
              <a:rPr lang="en-US" sz="2000" dirty="0">
                <a:solidFill>
                  <a:schemeClr val="accent1"/>
                </a:solidFill>
                <a:latin typeface="Bebas Neue Regular" pitchFamily="34" charset="0"/>
                <a:ea typeface="Bebas Neue Regular" pitchFamily="34" charset="-122"/>
                <a:cs typeface="Bebas Neue Regular" pitchFamily="34" charset="-120"/>
              </a:rPr>
              <a:t>2</a:t>
            </a:r>
            <a:endParaRPr lang="en-US" sz="2000" dirty="0"/>
          </a:p>
        </p:txBody>
      </p:sp>
      <p:sp>
        <p:nvSpPr>
          <p:cNvPr id="29" name="Text 18"/>
          <p:cNvSpPr txBox="1"/>
          <p:nvPr/>
        </p:nvSpPr>
        <p:spPr>
          <a:xfrm>
            <a:off x="3657600" y="4352544"/>
            <a:ext cx="2286000" cy="274320"/>
          </a:xfrm>
          <a:prstGeom prst="rect">
            <a:avLst/>
          </a:prstGeom>
          <a:noFill/>
          <a:ln/>
        </p:spPr>
        <p:txBody>
          <a:bodyPr wrap="square" lIns="0" tIns="0" rIns="0" bIns="0" rtlCol="0" anchor="ctr"/>
          <a:lstStyle/>
          <a:p>
            <a:pPr indent="0" marL="0">
              <a:buNone/>
            </a:pPr>
            <a:r>
              <a:rPr lang="en-US" sz="1100" dirty="0">
                <a:solidFill>
                  <a:schemeClr val="tx1"/>
                </a:solidFill>
              </a:rPr>
              <a:t>A mistake people often make?</a:t>
            </a:r>
            <a:endParaRPr lang="en-US" sz="1100" dirty="0"/>
          </a:p>
        </p:txBody>
      </p:sp>
      <p:sp>
        <p:nvSpPr>
          <p:cNvPr id="30" name="Text 19"/>
          <p:cNvSpPr txBox="1"/>
          <p:nvPr/>
        </p:nvSpPr>
        <p:spPr>
          <a:xfrm>
            <a:off x="6080760" y="4352544"/>
            <a:ext cx="274320" cy="274320"/>
          </a:xfrm>
          <a:prstGeom prst="rect">
            <a:avLst/>
          </a:prstGeom>
          <a:noFill/>
          <a:ln/>
        </p:spPr>
        <p:txBody>
          <a:bodyPr wrap="square" lIns="0" tIns="0" rIns="0" bIns="0" rtlCol="0" anchor="ctr"/>
          <a:lstStyle/>
          <a:p>
            <a:pPr indent="0" marL="0">
              <a:buNone/>
            </a:pPr>
            <a:r>
              <a:rPr lang="en-US" sz="2000" dirty="0">
                <a:solidFill>
                  <a:schemeClr val="accent1"/>
                </a:solidFill>
                <a:latin typeface="Bebas Neue Regular" pitchFamily="34" charset="0"/>
                <a:ea typeface="Bebas Neue Regular" pitchFamily="34" charset="-122"/>
                <a:cs typeface="Bebas Neue Regular" pitchFamily="34" charset="-120"/>
              </a:rPr>
              <a:t>3</a:t>
            </a:r>
            <a:endParaRPr lang="en-US" sz="2000" dirty="0"/>
          </a:p>
        </p:txBody>
      </p:sp>
      <p:sp>
        <p:nvSpPr>
          <p:cNvPr id="31" name="Text 20"/>
          <p:cNvSpPr txBox="1"/>
          <p:nvPr/>
        </p:nvSpPr>
        <p:spPr>
          <a:xfrm>
            <a:off x="6355080" y="4352544"/>
            <a:ext cx="2286000" cy="274320"/>
          </a:xfrm>
          <a:prstGeom prst="rect">
            <a:avLst/>
          </a:prstGeom>
          <a:noFill/>
          <a:ln/>
        </p:spPr>
        <p:txBody>
          <a:bodyPr wrap="square" lIns="0" tIns="0" rIns="0" bIns="0" rtlCol="0" anchor="ctr"/>
          <a:lstStyle/>
          <a:p>
            <a:pPr indent="0" marL="0">
              <a:buNone/>
            </a:pPr>
            <a:r>
              <a:rPr lang="en-US" sz="1100" dirty="0">
                <a:solidFill>
                  <a:schemeClr val="tx1"/>
                </a:solidFill>
              </a:rPr>
              <a:t>A class question that stuck?</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What success looks like by 31 December</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3. Objectives  ·  7. Performance indicators</a:t>
            </a:r>
            <a:endParaRPr lang="en-US" sz="1300" dirty="0"/>
          </a:p>
        </p:txBody>
      </p:sp>
      <p:pic>
        <p:nvPicPr>
          <p:cNvPr id="4" name="Target 1" descr="preencoded.png">    </p:cNvPr>
          <p:cNvPicPr>
            <a:picLocks noChangeAspect="1"/>
          </p:cNvPicPr>
          <p:nvPr/>
        </p:nvPicPr>
        <p:blipFill>
          <a:blip r:embed="rId1"/>
          <a:stretch>
            <a:fillRect/>
          </a:stretch>
        </p:blipFill>
        <p:spPr>
          <a:xfrm>
            <a:off x="457200" y="1737360"/>
            <a:ext cx="1874520" cy="1325880"/>
          </a:xfrm>
          <a:prstGeom prst="rect">
            <a:avLst/>
          </a:prstGeom>
        </p:spPr>
      </p:pic>
      <p:sp>
        <p:nvSpPr>
          <p:cNvPr id="5" name="Text 2"/>
          <p:cNvSpPr txBox="1"/>
          <p:nvPr/>
        </p:nvSpPr>
        <p:spPr>
          <a:xfrm>
            <a:off x="640080" y="1828800"/>
            <a:ext cx="1554480" cy="685800"/>
          </a:xfrm>
          <a:prstGeom prst="rect">
            <a:avLst/>
          </a:prstGeom>
          <a:noFill/>
          <a:ln/>
        </p:spPr>
        <p:txBody>
          <a:bodyPr wrap="square" lIns="0" tIns="0" rIns="0" bIns="0" rtlCol="0" anchor="ctr"/>
          <a:lstStyle/>
          <a:p>
            <a:pPr indent="0" marL="0">
              <a:buNone/>
            </a:pPr>
            <a:r>
              <a:rPr lang="en-US" sz="4800" dirty="0">
                <a:solidFill>
                  <a:schemeClr val="bg1"/>
                </a:solidFill>
                <a:latin typeface="Bebas Neue Regular" pitchFamily="34" charset="0"/>
                <a:ea typeface="Bebas Neue Regular" pitchFamily="34" charset="-122"/>
                <a:cs typeface="Bebas Neue Regular" pitchFamily="34" charset="-120"/>
              </a:rPr>
              <a:t>80%</a:t>
            </a:r>
            <a:endParaRPr lang="en-US" sz="4800" dirty="0"/>
          </a:p>
        </p:txBody>
      </p:sp>
      <p:sp>
        <p:nvSpPr>
          <p:cNvPr id="6" name="Text 3"/>
          <p:cNvSpPr txBox="1"/>
          <p:nvPr/>
        </p:nvSpPr>
        <p:spPr>
          <a:xfrm>
            <a:off x="640080" y="2514600"/>
            <a:ext cx="1554480" cy="457200"/>
          </a:xfrm>
          <a:prstGeom prst="rect">
            <a:avLst/>
          </a:prstGeom>
          <a:noFill/>
          <a:ln/>
        </p:spPr>
        <p:txBody>
          <a:bodyPr wrap="square" lIns="0" tIns="0" rIns="0" bIns="0" rtlCol="0" anchor="t"/>
          <a:lstStyle/>
          <a:p>
            <a:pPr indent="0" marL="0">
              <a:buNone/>
            </a:pPr>
            <a:r>
              <a:rPr lang="en-US" sz="1100" dirty="0">
                <a:solidFill>
                  <a:schemeClr val="accent5"/>
                </a:solidFill>
              </a:rPr>
              <a:t>of modules captured</a:t>
            </a:r>
            <a:endParaRPr lang="en-US" sz="1100" dirty="0"/>
          </a:p>
        </p:txBody>
      </p:sp>
      <p:pic>
        <p:nvPicPr>
          <p:cNvPr id="7" name="Target 2" descr="preencoded.png">    </p:cNvPr>
          <p:cNvPicPr>
            <a:picLocks noChangeAspect="1"/>
          </p:cNvPicPr>
          <p:nvPr/>
        </p:nvPicPr>
        <p:blipFill>
          <a:blip r:embed="rId2"/>
          <a:stretch>
            <a:fillRect/>
          </a:stretch>
        </p:blipFill>
        <p:spPr>
          <a:xfrm>
            <a:off x="2468880" y="1737360"/>
            <a:ext cx="1874520" cy="1325880"/>
          </a:xfrm>
          <a:prstGeom prst="rect">
            <a:avLst/>
          </a:prstGeom>
        </p:spPr>
      </p:pic>
      <p:sp>
        <p:nvSpPr>
          <p:cNvPr id="8" name="Text 4"/>
          <p:cNvSpPr txBox="1"/>
          <p:nvPr/>
        </p:nvSpPr>
        <p:spPr>
          <a:xfrm>
            <a:off x="2651760" y="1828800"/>
            <a:ext cx="1554480" cy="685800"/>
          </a:xfrm>
          <a:prstGeom prst="rect">
            <a:avLst/>
          </a:prstGeom>
          <a:noFill/>
          <a:ln/>
        </p:spPr>
        <p:txBody>
          <a:bodyPr wrap="square" lIns="0" tIns="0" rIns="0" bIns="0" rtlCol="0" anchor="ctr"/>
          <a:lstStyle/>
          <a:p>
            <a:pPr indent="0" marL="0">
              <a:buNone/>
            </a:pPr>
            <a:r>
              <a:rPr lang="en-US" sz="4800" dirty="0">
                <a:solidFill>
                  <a:schemeClr val="bg1"/>
                </a:solidFill>
                <a:latin typeface="Bebas Neue Regular" pitchFamily="34" charset="0"/>
                <a:ea typeface="Bebas Neue Regular" pitchFamily="34" charset="-122"/>
                <a:cs typeface="Bebas Neue Regular" pitchFamily="34" charset="-120"/>
              </a:rPr>
              <a:t>4+</a:t>
            </a:r>
            <a:endParaRPr lang="en-US" sz="4800" dirty="0"/>
          </a:p>
        </p:txBody>
      </p:sp>
      <p:sp>
        <p:nvSpPr>
          <p:cNvPr id="9" name="Text 5"/>
          <p:cNvSpPr txBox="1"/>
          <p:nvPr/>
        </p:nvSpPr>
        <p:spPr>
          <a:xfrm>
            <a:off x="2651760" y="2514600"/>
            <a:ext cx="1554480" cy="457200"/>
          </a:xfrm>
          <a:prstGeom prst="rect">
            <a:avLst/>
          </a:prstGeom>
          <a:noFill/>
          <a:ln/>
        </p:spPr>
        <p:txBody>
          <a:bodyPr wrap="square" lIns="0" tIns="0" rIns="0" bIns="0" rtlCol="0" anchor="t"/>
          <a:lstStyle/>
          <a:p>
            <a:pPr indent="0" marL="0">
              <a:buNone/>
            </a:pPr>
            <a:r>
              <a:rPr lang="en-US" sz="1100" dirty="0">
                <a:solidFill>
                  <a:schemeClr val="accent5"/>
                </a:solidFill>
              </a:rPr>
              <a:t>posts from every interview</a:t>
            </a:r>
            <a:endParaRPr lang="en-US" sz="1100" dirty="0"/>
          </a:p>
        </p:txBody>
      </p:sp>
      <p:pic>
        <p:nvPicPr>
          <p:cNvPr id="10" name="Target 3" descr="preencoded.png">    </p:cNvPr>
          <p:cNvPicPr>
            <a:picLocks noChangeAspect="1"/>
          </p:cNvPicPr>
          <p:nvPr/>
        </p:nvPicPr>
        <p:blipFill>
          <a:blip r:embed="rId3"/>
          <a:stretch>
            <a:fillRect/>
          </a:stretch>
        </p:blipFill>
        <p:spPr>
          <a:xfrm>
            <a:off x="457200" y="3200400"/>
            <a:ext cx="1874520" cy="1325880"/>
          </a:xfrm>
          <a:prstGeom prst="rect">
            <a:avLst/>
          </a:prstGeom>
        </p:spPr>
      </p:pic>
      <p:sp>
        <p:nvSpPr>
          <p:cNvPr id="11" name="Text 6"/>
          <p:cNvSpPr txBox="1"/>
          <p:nvPr/>
        </p:nvSpPr>
        <p:spPr>
          <a:xfrm>
            <a:off x="640080" y="3291840"/>
            <a:ext cx="1554480" cy="685800"/>
          </a:xfrm>
          <a:prstGeom prst="rect">
            <a:avLst/>
          </a:prstGeom>
          <a:noFill/>
          <a:ln/>
        </p:spPr>
        <p:txBody>
          <a:bodyPr wrap="square" lIns="0" tIns="0" rIns="0" bIns="0" rtlCol="0" anchor="ctr"/>
          <a:lstStyle/>
          <a:p>
            <a:pPr indent="0" marL="0">
              <a:buNone/>
            </a:pPr>
            <a:r>
              <a:rPr lang="en-US" sz="4800" dirty="0">
                <a:solidFill>
                  <a:schemeClr val="bg1"/>
                </a:solidFill>
                <a:latin typeface="Bebas Neue Regular" pitchFamily="34" charset="0"/>
                <a:ea typeface="Bebas Neue Regular" pitchFamily="34" charset="-122"/>
                <a:cs typeface="Bebas Neue Regular" pitchFamily="34" charset="-120"/>
              </a:rPr>
              <a:t>48h</a:t>
            </a:r>
            <a:endParaRPr lang="en-US" sz="4800" dirty="0"/>
          </a:p>
        </p:txBody>
      </p:sp>
      <p:sp>
        <p:nvSpPr>
          <p:cNvPr id="12" name="Text 7"/>
          <p:cNvSpPr txBox="1"/>
          <p:nvPr/>
        </p:nvSpPr>
        <p:spPr>
          <a:xfrm>
            <a:off x="640080" y="3977640"/>
            <a:ext cx="1554480" cy="457200"/>
          </a:xfrm>
          <a:prstGeom prst="rect">
            <a:avLst/>
          </a:prstGeom>
          <a:noFill/>
          <a:ln/>
        </p:spPr>
        <p:txBody>
          <a:bodyPr wrap="square" lIns="0" tIns="0" rIns="0" bIns="0" rtlCol="0" anchor="t"/>
          <a:lstStyle/>
          <a:p>
            <a:pPr indent="0" marL="0">
              <a:buNone/>
            </a:pPr>
            <a:r>
              <a:rPr lang="en-US" sz="1100" dirty="0">
                <a:solidFill>
                  <a:schemeClr val="accent5"/>
                </a:solidFill>
              </a:rPr>
              <a:t>from class to first post</a:t>
            </a:r>
            <a:endParaRPr lang="en-US" sz="1100" dirty="0"/>
          </a:p>
        </p:txBody>
      </p:sp>
      <p:pic>
        <p:nvPicPr>
          <p:cNvPr id="13" name="Target 4" descr="preencoded.png">    </p:cNvPr>
          <p:cNvPicPr>
            <a:picLocks noChangeAspect="1"/>
          </p:cNvPicPr>
          <p:nvPr/>
        </p:nvPicPr>
        <p:blipFill>
          <a:blip r:embed="rId4"/>
          <a:stretch>
            <a:fillRect/>
          </a:stretch>
        </p:blipFill>
        <p:spPr>
          <a:xfrm>
            <a:off x="2468880" y="3200400"/>
            <a:ext cx="1874520" cy="1325880"/>
          </a:xfrm>
          <a:prstGeom prst="rect">
            <a:avLst/>
          </a:prstGeom>
        </p:spPr>
      </p:pic>
      <p:sp>
        <p:nvSpPr>
          <p:cNvPr id="14" name="Text 8"/>
          <p:cNvSpPr txBox="1"/>
          <p:nvPr/>
        </p:nvSpPr>
        <p:spPr>
          <a:xfrm>
            <a:off x="2651760" y="3291840"/>
            <a:ext cx="1554480" cy="685800"/>
          </a:xfrm>
          <a:prstGeom prst="rect">
            <a:avLst/>
          </a:prstGeom>
          <a:noFill/>
          <a:ln/>
        </p:spPr>
        <p:txBody>
          <a:bodyPr wrap="square" lIns="0" tIns="0" rIns="0" bIns="0" rtlCol="0" anchor="ctr"/>
          <a:lstStyle/>
          <a:p>
            <a:pPr indent="0" marL="0">
              <a:buNone/>
            </a:pPr>
            <a:r>
              <a:rPr lang="en-US" sz="4800" dirty="0">
                <a:solidFill>
                  <a:schemeClr val="bg1"/>
                </a:solidFill>
                <a:latin typeface="Bebas Neue Regular" pitchFamily="34" charset="0"/>
                <a:ea typeface="Bebas Neue Regular" pitchFamily="34" charset="-122"/>
                <a:cs typeface="Bebas Neue Regular" pitchFamily="34" charset="-120"/>
              </a:rPr>
              <a:t>50%</a:t>
            </a:r>
            <a:endParaRPr lang="en-US" sz="4800" dirty="0"/>
          </a:p>
        </p:txBody>
      </p:sp>
      <p:sp>
        <p:nvSpPr>
          <p:cNvPr id="15" name="Text 9"/>
          <p:cNvSpPr txBox="1"/>
          <p:nvPr/>
        </p:nvSpPr>
        <p:spPr>
          <a:xfrm>
            <a:off x="2651760" y="3977640"/>
            <a:ext cx="1554480" cy="457200"/>
          </a:xfrm>
          <a:prstGeom prst="rect">
            <a:avLst/>
          </a:prstGeom>
          <a:noFill/>
          <a:ln/>
        </p:spPr>
        <p:txBody>
          <a:bodyPr wrap="square" lIns="0" tIns="0" rIns="0" bIns="0" rtlCol="0" anchor="t"/>
          <a:lstStyle/>
          <a:p>
            <a:pPr indent="0" marL="0">
              <a:buNone/>
            </a:pPr>
            <a:r>
              <a:rPr lang="en-US" sz="1100" dirty="0">
                <a:solidFill>
                  <a:schemeClr val="accent5"/>
                </a:solidFill>
              </a:rPr>
              <a:t>of weekly posts made without the creative team</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26280" y="1737360"/>
          <a:ext cx="4160520" cy="914400"/>
        </p:xfrm>
        <a:graphic>
          <a:graphicData uri="http://schemas.openxmlformats.org/drawingml/2006/table">
            <a:tbl>
              <a:tblPr/>
              <a:tblGrid>
                <a:gridCol w="1828800"/>
                <a:gridCol w="1143000"/>
                <a:gridCol w="1188720"/>
              </a:tblGrid>
              <a:tr h="365760">
                <a:tc>
                  <a:txBody>
                    <a:bodyPr/>
                    <a:lstStyle/>
                    <a:p>
                      <a:pPr indent="0" marL="0">
                        <a:buNone/>
                      </a:pPr>
                      <a:r>
                        <a:rPr lang="en-US" sz="1050" b="1" dirty="0">
                          <a:solidFill>
                            <a:srgbClr val="FFFFFF"/>
                          </a:solidFill>
                          <a:latin typeface="Geist" pitchFamily="34" charset="0"/>
                          <a:ea typeface="Geist" pitchFamily="34" charset="-122"/>
                          <a:cs typeface="Geist" pitchFamily="34" charset="-120"/>
                        </a:rPr>
                        <a:t>Indicator</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171365"/>
                    </a:solidFill>
                  </a:tcPr>
                </a:tc>
                <a:tc>
                  <a:txBody>
                    <a:bodyPr/>
                    <a:lstStyle/>
                    <a:p>
                      <a:pPr indent="0" marL="0">
                        <a:buNone/>
                      </a:pPr>
                      <a:r>
                        <a:rPr lang="en-US" sz="1050" b="1" dirty="0">
                          <a:solidFill>
                            <a:srgbClr val="FFFFFF"/>
                          </a:solidFill>
                          <a:latin typeface="Geist" pitchFamily="34" charset="0"/>
                          <a:ea typeface="Geist" pitchFamily="34" charset="-122"/>
                          <a:cs typeface="Geist" pitchFamily="34" charset="-120"/>
                        </a:rPr>
                        <a:t>Baseline</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171365"/>
                    </a:solidFill>
                  </a:tcPr>
                </a:tc>
                <a:tc>
                  <a:txBody>
                    <a:bodyPr/>
                    <a:lstStyle/>
                    <a:p>
                      <a:pPr indent="0" marL="0">
                        <a:buNone/>
                      </a:pPr>
                      <a:r>
                        <a:rPr lang="en-US" sz="1050" b="1" dirty="0">
                          <a:solidFill>
                            <a:srgbClr val="FFFFFF"/>
                          </a:solidFill>
                          <a:latin typeface="Geist" pitchFamily="34" charset="0"/>
                          <a:ea typeface="Geist" pitchFamily="34" charset="-122"/>
                          <a:cs typeface="Geist" pitchFamily="34" charset="-120"/>
                        </a:rPr>
                        <a:t>Q4 target</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171365"/>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Modules captured</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0%</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80% or more</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Posts per interview</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None yet</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4 or more</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Class to first post</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No routine</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48 hours</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Posts without creative team</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Week 1 count</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50% or more</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Wednesday shoot length</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Time in week 1</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Half of today</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Saves and shares per post</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Week 1 average</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Beat promo posts</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r>
            </a:tbl>
          </a:graphicData>
        </a:graphic>
      </p:graphicFrame>
      <p:sp>
        <p:nvSpPr>
          <p:cNvPr id="17" name="Text 10"/>
          <p:cNvSpPr txBox="1"/>
          <p:nvPr/>
        </p:nvSpPr>
        <p:spPr>
          <a:xfrm>
            <a:off x="4526280" y="4480560"/>
            <a:ext cx="4160520" cy="274320"/>
          </a:xfrm>
          <a:prstGeom prst="rect">
            <a:avLst/>
          </a:prstGeom>
          <a:noFill/>
          <a:ln/>
        </p:spPr>
        <p:txBody>
          <a:bodyPr wrap="square" lIns="0" tIns="0" rIns="0" bIns="0" rtlCol="0" anchor="t"/>
          <a:lstStyle/>
          <a:p>
            <a:pPr indent="0" marL="0">
              <a:buNone/>
            </a:pPr>
            <a:r>
              <a:rPr lang="en-US" sz="1000" dirty="0">
                <a:solidFill>
                  <a:schemeClr val="accent4"/>
                </a:solidFill>
              </a:rPr>
              <a:t>Baselines are taken in the first week of October so the December figures can be compared fairly.</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October to December, step by step</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5. Resources and support  ·  6. Timeline</a:t>
            </a:r>
            <a:endParaRPr lang="en-US" sz="1300" dirty="0"/>
          </a:p>
        </p:txBody>
      </p:sp>
      <p:pic>
        <p:nvPicPr>
          <p:cNvPr id="4" name="OCT card" descr="preencoded.png">    </p:cNvPr>
          <p:cNvPicPr>
            <a:picLocks noChangeAspect="1"/>
          </p:cNvPicPr>
          <p:nvPr/>
        </p:nvPicPr>
        <p:blipFill>
          <a:blip r:embed="rId1"/>
          <a:stretch>
            <a:fillRect/>
          </a:stretch>
        </p:blipFill>
        <p:spPr>
          <a:xfrm>
            <a:off x="457200" y="1737360"/>
            <a:ext cx="1737360" cy="2926080"/>
          </a:xfrm>
          <a:prstGeom prst="rect">
            <a:avLst/>
          </a:prstGeom>
        </p:spPr>
      </p:pic>
      <p:sp>
        <p:nvSpPr>
          <p:cNvPr id="5" name="Text 2"/>
          <p:cNvSpPr txBox="1"/>
          <p:nvPr/>
        </p:nvSpPr>
        <p:spPr>
          <a:xfrm>
            <a:off x="640080" y="1828800"/>
            <a:ext cx="1371600" cy="640080"/>
          </a:xfrm>
          <a:prstGeom prst="rect">
            <a:avLst/>
          </a:prstGeom>
          <a:noFill/>
          <a:ln/>
        </p:spPr>
        <p:txBody>
          <a:bodyPr wrap="square" lIns="0" tIns="0" rIns="0" bIns="0" rtlCol="0" anchor="ctr"/>
          <a:lstStyle/>
          <a:p>
            <a:pPr indent="0" marL="0">
              <a:buNone/>
            </a:pPr>
            <a:r>
              <a:rPr lang="en-US" sz="4400" dirty="0">
                <a:solidFill>
                  <a:schemeClr val="bg1"/>
                </a:solidFill>
                <a:latin typeface="Bebas Neue Regular" pitchFamily="34" charset="0"/>
                <a:ea typeface="Bebas Neue Regular" pitchFamily="34" charset="-122"/>
                <a:cs typeface="Bebas Neue Regular" pitchFamily="34" charset="-120"/>
              </a:rPr>
              <a:t>OCT</a:t>
            </a:r>
            <a:endParaRPr lang="en-US" sz="4400" dirty="0"/>
          </a:p>
        </p:txBody>
      </p:sp>
      <p:sp>
        <p:nvSpPr>
          <p:cNvPr id="6" name="Text 3"/>
          <p:cNvSpPr txBox="1"/>
          <p:nvPr/>
        </p:nvSpPr>
        <p:spPr>
          <a:xfrm>
            <a:off x="640080" y="2487168"/>
            <a:ext cx="1463040" cy="246888"/>
          </a:xfrm>
          <a:prstGeom prst="rect">
            <a:avLst/>
          </a:prstGeom>
          <a:noFill/>
          <a:ln/>
        </p:spPr>
        <p:txBody>
          <a:bodyPr wrap="square" lIns="0" tIns="0" rIns="0" bIns="0" rtlCol="0" anchor="t"/>
          <a:lstStyle/>
          <a:p>
            <a:pPr indent="0" marL="0">
              <a:buNone/>
            </a:pPr>
            <a:r>
              <a:rPr lang="en-US" sz="1100" b="1" dirty="0">
                <a:solidFill>
                  <a:schemeClr val="accent3"/>
                </a:solidFill>
              </a:rPr>
              <a:t>Set up and pilot</a:t>
            </a:r>
            <a:endParaRPr lang="en-US" sz="1100" dirty="0"/>
          </a:p>
        </p:txBody>
      </p:sp>
      <p:sp>
        <p:nvSpPr>
          <p:cNvPr id="7" name="Text 4"/>
          <p:cNvSpPr txBox="1"/>
          <p:nvPr/>
        </p:nvSpPr>
        <p:spPr>
          <a:xfrm>
            <a:off x="640080" y="2788920"/>
            <a:ext cx="1463040" cy="1783080"/>
          </a:xfrm>
          <a:prstGeom prst="rect">
            <a:avLst/>
          </a:prstGeom>
          <a:noFill/>
          <a:ln/>
        </p:spPr>
        <p:txBody>
          <a:bodyPr wrap="square" lIns="0" tIns="0" rIns="0" bIns="0" rtlCol="0" anchor="t"/>
          <a:lstStyle/>
          <a:p>
            <a:pPr indent="0" marL="0">
              <a:buNone/>
            </a:pPr>
            <a:r>
              <a:rPr lang="en-US" sz="1100" dirty="0">
                <a:solidFill>
                  <a:schemeClr val="bg1"/>
                </a:solidFill>
              </a:rPr>
              <a:t>Agree the format with facilitators and get consent. Buy the kit, build the templates, take baselines. Pilot on two weekends.</a:t>
            </a:r>
            <a:endParaRPr lang="en-US" sz="1100" dirty="0"/>
          </a:p>
        </p:txBody>
      </p:sp>
      <p:pic>
        <p:nvPicPr>
          <p:cNvPr id="8" name="NOV card" descr="preencoded.png">    </p:cNvPr>
          <p:cNvPicPr>
            <a:picLocks noChangeAspect="1"/>
          </p:cNvPicPr>
          <p:nvPr/>
        </p:nvPicPr>
        <p:blipFill>
          <a:blip r:embed="rId2"/>
          <a:stretch>
            <a:fillRect/>
          </a:stretch>
        </p:blipFill>
        <p:spPr>
          <a:xfrm>
            <a:off x="2331720" y="1737360"/>
            <a:ext cx="1737360" cy="2926080"/>
          </a:xfrm>
          <a:prstGeom prst="rect">
            <a:avLst/>
          </a:prstGeom>
        </p:spPr>
      </p:pic>
      <p:sp>
        <p:nvSpPr>
          <p:cNvPr id="9" name="Text 5"/>
          <p:cNvSpPr txBox="1"/>
          <p:nvPr/>
        </p:nvSpPr>
        <p:spPr>
          <a:xfrm>
            <a:off x="2514600" y="1828800"/>
            <a:ext cx="1371600" cy="640080"/>
          </a:xfrm>
          <a:prstGeom prst="rect">
            <a:avLst/>
          </a:prstGeom>
          <a:noFill/>
          <a:ln/>
        </p:spPr>
        <p:txBody>
          <a:bodyPr wrap="square" lIns="0" tIns="0" rIns="0" bIns="0" rtlCol="0" anchor="ctr"/>
          <a:lstStyle/>
          <a:p>
            <a:pPr indent="0" marL="0">
              <a:buNone/>
            </a:pPr>
            <a:r>
              <a:rPr lang="en-US" sz="4400" dirty="0">
                <a:solidFill>
                  <a:schemeClr val="bg1"/>
                </a:solidFill>
                <a:latin typeface="Bebas Neue Regular" pitchFamily="34" charset="0"/>
                <a:ea typeface="Bebas Neue Regular" pitchFamily="34" charset="-122"/>
                <a:cs typeface="Bebas Neue Regular" pitchFamily="34" charset="-120"/>
              </a:rPr>
              <a:t>NOV</a:t>
            </a:r>
            <a:endParaRPr lang="en-US" sz="4400" dirty="0"/>
          </a:p>
        </p:txBody>
      </p:sp>
      <p:sp>
        <p:nvSpPr>
          <p:cNvPr id="10" name="Text 6"/>
          <p:cNvSpPr txBox="1"/>
          <p:nvPr/>
        </p:nvSpPr>
        <p:spPr>
          <a:xfrm>
            <a:off x="2514600" y="2487168"/>
            <a:ext cx="1463040" cy="246888"/>
          </a:xfrm>
          <a:prstGeom prst="rect">
            <a:avLst/>
          </a:prstGeom>
          <a:noFill/>
          <a:ln/>
        </p:spPr>
        <p:txBody>
          <a:bodyPr wrap="square" lIns="0" tIns="0" rIns="0" bIns="0" rtlCol="0" anchor="t"/>
          <a:lstStyle/>
          <a:p>
            <a:pPr indent="0" marL="0">
              <a:buNone/>
            </a:pPr>
            <a:r>
              <a:rPr lang="en-US" sz="1100" b="1" dirty="0">
                <a:solidFill>
                  <a:schemeClr val="accent3"/>
                </a:solidFill>
              </a:rPr>
              <a:t>Full weekly run</a:t>
            </a:r>
            <a:endParaRPr lang="en-US" sz="1100" dirty="0"/>
          </a:p>
        </p:txBody>
      </p:sp>
      <p:sp>
        <p:nvSpPr>
          <p:cNvPr id="11" name="Text 7"/>
          <p:cNvSpPr txBox="1"/>
          <p:nvPr/>
        </p:nvSpPr>
        <p:spPr>
          <a:xfrm>
            <a:off x="2514600" y="2788920"/>
            <a:ext cx="1463040" cy="1783080"/>
          </a:xfrm>
          <a:prstGeom prst="rect">
            <a:avLst/>
          </a:prstGeom>
          <a:noFill/>
          <a:ln/>
        </p:spPr>
        <p:txBody>
          <a:bodyPr wrap="square" lIns="0" tIns="0" rIns="0" bIns="0" rtlCol="0" anchor="t"/>
          <a:lstStyle/>
          <a:p>
            <a:pPr indent="0" marL="0">
              <a:buNone/>
            </a:pPr>
            <a:r>
              <a:rPr lang="en-US" sz="1100" dirty="0">
                <a:solidFill>
                  <a:schemeClr val="bg1"/>
                </a:solidFill>
              </a:rPr>
              <a:t>Three interviews a week, four or more posts each, all scheduled a week ahead. Weekly check on the numbers.</a:t>
            </a:r>
            <a:endParaRPr lang="en-US" sz="1100" dirty="0"/>
          </a:p>
        </p:txBody>
      </p:sp>
      <p:pic>
        <p:nvPicPr>
          <p:cNvPr id="12" name="DEC card" descr="preencoded.png">    </p:cNvPr>
          <p:cNvPicPr>
            <a:picLocks noChangeAspect="1"/>
          </p:cNvPicPr>
          <p:nvPr/>
        </p:nvPicPr>
        <p:blipFill>
          <a:blip r:embed="rId3"/>
          <a:stretch>
            <a:fillRect/>
          </a:stretch>
        </p:blipFill>
        <p:spPr>
          <a:xfrm>
            <a:off x="4206240" y="1737360"/>
            <a:ext cx="1737360" cy="2926080"/>
          </a:xfrm>
          <a:prstGeom prst="rect">
            <a:avLst/>
          </a:prstGeom>
        </p:spPr>
      </p:pic>
      <p:sp>
        <p:nvSpPr>
          <p:cNvPr id="13" name="Text 8"/>
          <p:cNvSpPr txBox="1"/>
          <p:nvPr/>
        </p:nvSpPr>
        <p:spPr>
          <a:xfrm>
            <a:off x="4389120" y="1828800"/>
            <a:ext cx="1371600" cy="640080"/>
          </a:xfrm>
          <a:prstGeom prst="rect">
            <a:avLst/>
          </a:prstGeom>
          <a:noFill/>
          <a:ln/>
        </p:spPr>
        <p:txBody>
          <a:bodyPr wrap="square" lIns="0" tIns="0" rIns="0" bIns="0" rtlCol="0" anchor="ctr"/>
          <a:lstStyle/>
          <a:p>
            <a:pPr indent="0" marL="0">
              <a:buNone/>
            </a:pPr>
            <a:r>
              <a:rPr lang="en-US" sz="4400" dirty="0">
                <a:solidFill>
                  <a:schemeClr val="bg1"/>
                </a:solidFill>
                <a:latin typeface="Bebas Neue Regular" pitchFamily="34" charset="0"/>
                <a:ea typeface="Bebas Neue Regular" pitchFamily="34" charset="-122"/>
                <a:cs typeface="Bebas Neue Regular" pitchFamily="34" charset="-120"/>
              </a:rPr>
              <a:t>DEC</a:t>
            </a:r>
            <a:endParaRPr lang="en-US" sz="4400" dirty="0"/>
          </a:p>
        </p:txBody>
      </p:sp>
      <p:sp>
        <p:nvSpPr>
          <p:cNvPr id="14" name="Text 9"/>
          <p:cNvSpPr txBox="1"/>
          <p:nvPr/>
        </p:nvSpPr>
        <p:spPr>
          <a:xfrm>
            <a:off x="4389120" y="2487168"/>
            <a:ext cx="1463040" cy="246888"/>
          </a:xfrm>
          <a:prstGeom prst="rect">
            <a:avLst/>
          </a:prstGeom>
          <a:noFill/>
          <a:ln/>
        </p:spPr>
        <p:txBody>
          <a:bodyPr wrap="square" lIns="0" tIns="0" rIns="0" bIns="0" rtlCol="0" anchor="t"/>
          <a:lstStyle/>
          <a:p>
            <a:pPr indent="0" marL="0">
              <a:buNone/>
            </a:pPr>
            <a:r>
              <a:rPr lang="en-US" sz="1100" b="1" dirty="0">
                <a:solidFill>
                  <a:schemeClr val="accent3"/>
                </a:solidFill>
              </a:rPr>
              <a:t>Review and refine</a:t>
            </a:r>
            <a:endParaRPr lang="en-US" sz="1100" dirty="0"/>
          </a:p>
        </p:txBody>
      </p:sp>
      <p:sp>
        <p:nvSpPr>
          <p:cNvPr id="15" name="Text 10"/>
          <p:cNvSpPr txBox="1"/>
          <p:nvPr/>
        </p:nvSpPr>
        <p:spPr>
          <a:xfrm>
            <a:off x="4389120" y="2788920"/>
            <a:ext cx="1463040" cy="1783080"/>
          </a:xfrm>
          <a:prstGeom prst="rect">
            <a:avLst/>
          </a:prstGeom>
          <a:noFill/>
          <a:ln/>
        </p:spPr>
        <p:txBody>
          <a:bodyPr wrap="square" lIns="0" tIns="0" rIns="0" bIns="0" rtlCol="0" anchor="t"/>
          <a:lstStyle/>
          <a:p>
            <a:pPr indent="0" marL="0">
              <a:buNone/>
            </a:pPr>
            <a:r>
              <a:rPr lang="en-US" sz="1100" dirty="0">
                <a:solidFill>
                  <a:schemeClr val="bg1"/>
                </a:solidFill>
              </a:rPr>
              <a:t>Keep the formats that work. Build a highlights set for the next intake. Write a one-page playbook.</a:t>
            </a:r>
            <a:endParaRPr lang="en-US" sz="1100" dirty="0"/>
          </a:p>
        </p:txBody>
      </p:sp>
      <p:pic>
        <p:nvPicPr>
          <p:cNvPr id="16" name="Support card" descr="preencoded.png">    </p:cNvPr>
          <p:cNvPicPr>
            <a:picLocks noChangeAspect="1"/>
          </p:cNvPicPr>
          <p:nvPr/>
        </p:nvPicPr>
        <p:blipFill>
          <a:blip r:embed="rId4"/>
          <a:stretch>
            <a:fillRect/>
          </a:stretch>
        </p:blipFill>
        <p:spPr>
          <a:xfrm>
            <a:off x="6172200" y="1737360"/>
            <a:ext cx="2514600" cy="2926080"/>
          </a:xfrm>
          <a:prstGeom prst="rect">
            <a:avLst/>
          </a:prstGeom>
        </p:spPr>
      </p:pic>
      <p:pic>
        <p:nvPicPr>
          <p:cNvPr id="17" name="Image 4" descr="preencoded.png">    </p:cNvPr>
          <p:cNvPicPr>
            <a:picLocks noChangeAspect="1"/>
          </p:cNvPicPr>
          <p:nvPr/>
        </p:nvPicPr>
        <p:blipFill>
          <a:blip r:embed="rId5"/>
          <a:stretch>
            <a:fillRect/>
          </a:stretch>
        </p:blipFill>
        <p:spPr>
          <a:xfrm>
            <a:off x="6355080" y="1901952"/>
            <a:ext cx="365760" cy="365760"/>
          </a:xfrm>
          <a:prstGeom prst="rect">
            <a:avLst/>
          </a:prstGeom>
        </p:spPr>
      </p:pic>
      <p:sp>
        <p:nvSpPr>
          <p:cNvPr id="18" name="Text 11"/>
          <p:cNvSpPr txBox="1"/>
          <p:nvPr/>
        </p:nvSpPr>
        <p:spPr>
          <a:xfrm>
            <a:off x="6812280" y="1920240"/>
            <a:ext cx="1828800" cy="329184"/>
          </a:xfrm>
          <a:prstGeom prst="rect">
            <a:avLst/>
          </a:prstGeom>
          <a:noFill/>
          <a:ln/>
        </p:spPr>
        <p:txBody>
          <a:bodyPr wrap="square" lIns="0" tIns="0" rIns="0" bIns="0" rtlCol="0" anchor="ctr"/>
          <a:lstStyle/>
          <a:p>
            <a:pPr indent="0" marL="0">
              <a:buNone/>
            </a:pPr>
            <a:r>
              <a:rPr lang="en-US" sz="1300" b="1" dirty="0">
                <a:solidFill>
                  <a:schemeClr val="tx2"/>
                </a:solidFill>
                <a:latin typeface="General Sans" pitchFamily="34" charset="0"/>
                <a:ea typeface="General Sans" pitchFamily="34" charset="-122"/>
                <a:cs typeface="General Sans" pitchFamily="34" charset="-120"/>
              </a:rPr>
              <a:t>Support I need</a:t>
            </a:r>
            <a:endParaRPr lang="en-US" sz="1300" dirty="0"/>
          </a:p>
        </p:txBody>
      </p:sp>
      <p:sp>
        <p:nvSpPr>
          <p:cNvPr id="19" name="Text 12"/>
          <p:cNvSpPr txBox="1"/>
          <p:nvPr/>
        </p:nvSpPr>
        <p:spPr>
          <a:xfrm>
            <a:off x="6355080" y="2395728"/>
            <a:ext cx="2194560" cy="21945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tx1"/>
                </a:solidFill>
              </a:rPr>
              <a:t>Your endorsement of the series</a:t>
            </a:r>
            <a:endParaRPr lang="en-US" sz="1100" dirty="0"/>
          </a:p>
          <a:p>
            <a:pPr marL="152400" indent="-152400">
              <a:spcAft>
                <a:spcPts val="600"/>
              </a:spcAft>
              <a:buSzPct val="100000"/>
              <a:buChar char="•"/>
            </a:pPr>
            <a:r>
              <a:rPr lang="en-US" sz="1100" dirty="0">
                <a:solidFill>
                  <a:schemeClr val="tx1"/>
                </a:solidFill>
              </a:rPr>
              <a:t>Written consent from each facilitator</a:t>
            </a:r>
            <a:endParaRPr lang="en-US" sz="1100" dirty="0"/>
          </a:p>
          <a:p>
            <a:pPr marL="152400" indent="-152400">
              <a:spcAft>
                <a:spcPts val="600"/>
              </a:spcAft>
              <a:buSzPct val="100000"/>
              <a:buChar char="•"/>
            </a:pPr>
            <a:r>
              <a:rPr lang="en-US" sz="1100" dirty="0">
                <a:solidFill>
                  <a:schemeClr val="tx1"/>
                </a:solidFill>
              </a:rPr>
              <a:t>A programme officer to film on Saturdays when I can't</a:t>
            </a:r>
            <a:endParaRPr lang="en-US" sz="1100" dirty="0"/>
          </a:p>
          <a:p>
            <a:pPr marL="152400" indent="-152400">
              <a:spcAft>
                <a:spcPts val="600"/>
              </a:spcAft>
              <a:buSzPct val="100000"/>
              <a:buChar char="•"/>
            </a:pPr>
            <a:r>
              <a:rPr lang="en-US" sz="1100" dirty="0">
                <a:solidFill>
                  <a:schemeClr val="tx1"/>
                </a:solidFill>
              </a:rPr>
              <a:t>One tripod and one clip-on mic</a:t>
            </a:r>
            <a:endParaRPr lang="en-US" sz="1100" dirty="0"/>
          </a:p>
          <a:p>
            <a:pPr marL="152400" indent="-152400">
              <a:spcAft>
                <a:spcPts val="600"/>
              </a:spcAft>
              <a:buSzPct val="100000"/>
              <a:buChar char="•"/>
            </a:pPr>
            <a:r>
              <a:rPr lang="en-US" sz="1100" dirty="0">
                <a:solidFill>
                  <a:schemeClr val="tx1"/>
                </a:solidFill>
              </a:rPr>
              <a:t>Free tools we have: CapCut, an AI assistant, Meta Business Suite, Buffer, Figma</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Expected Q4 impact</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8. Expected impact  ·  9. Sustainability</a:t>
            </a:r>
            <a:endParaRPr lang="en-US" sz="1300" dirty="0"/>
          </a:p>
        </p:txBody>
      </p:sp>
      <p:pic>
        <p:nvPicPr>
          <p:cNvPr id="4" name="Impact bar 1" descr="preencoded.png">    </p:cNvPr>
          <p:cNvPicPr>
            <a:picLocks noChangeAspect="1"/>
          </p:cNvPicPr>
          <p:nvPr/>
        </p:nvPicPr>
        <p:blipFill>
          <a:blip r:embed="rId1"/>
          <a:stretch>
            <a:fillRect/>
          </a:stretch>
        </p:blipFill>
        <p:spPr>
          <a:xfrm>
            <a:off x="457200" y="1737360"/>
            <a:ext cx="4846320" cy="603504"/>
          </a:xfrm>
          <a:prstGeom prst="rect">
            <a:avLst/>
          </a:prstGeom>
        </p:spPr>
      </p:pic>
      <p:sp>
        <p:nvSpPr>
          <p:cNvPr id="5" name="Text 2"/>
          <p:cNvSpPr txBox="1"/>
          <p:nvPr/>
        </p:nvSpPr>
        <p:spPr>
          <a:xfrm>
            <a:off x="640080" y="1737360"/>
            <a:ext cx="960120" cy="603504"/>
          </a:xfrm>
          <a:prstGeom prst="rect">
            <a:avLst/>
          </a:prstGeom>
          <a:noFill/>
          <a:ln/>
        </p:spPr>
        <p:txBody>
          <a:bodyPr wrap="square" lIns="0" tIns="0" rIns="0" bIns="0" rtlCol="0" anchor="ctr"/>
          <a:lstStyle/>
          <a:p>
            <a:pPr indent="0" marL="0">
              <a:buNone/>
            </a:pPr>
            <a:r>
              <a:rPr lang="en-US" sz="3400" dirty="0">
                <a:solidFill>
                  <a:schemeClr val="bg1"/>
                </a:solidFill>
                <a:latin typeface="Bebas Neue Regular" pitchFamily="34" charset="0"/>
                <a:ea typeface="Bebas Neue Regular" pitchFamily="34" charset="-122"/>
                <a:cs typeface="Bebas Neue Regular" pitchFamily="34" charset="-120"/>
              </a:rPr>
              <a:t>24</a:t>
            </a:r>
            <a:endParaRPr lang="en-US" sz="3400" dirty="0"/>
          </a:p>
        </p:txBody>
      </p:sp>
      <p:sp>
        <p:nvSpPr>
          <p:cNvPr id="6" name="Text 3"/>
          <p:cNvSpPr txBox="1"/>
          <p:nvPr/>
        </p:nvSpPr>
        <p:spPr>
          <a:xfrm>
            <a:off x="1645920" y="1737360"/>
            <a:ext cx="3520440" cy="603504"/>
          </a:xfrm>
          <a:prstGeom prst="rect">
            <a:avLst/>
          </a:prstGeom>
          <a:noFill/>
          <a:ln/>
        </p:spPr>
        <p:txBody>
          <a:bodyPr wrap="square" lIns="0" tIns="0" rIns="0" bIns="0" rtlCol="0" anchor="ctr"/>
          <a:lstStyle/>
          <a:p>
            <a:pPr indent="0" marL="0">
              <a:buNone/>
            </a:pPr>
            <a:r>
              <a:rPr lang="en-US" sz="1100" dirty="0">
                <a:solidFill>
                  <a:schemeClr val="bg1"/>
                </a:solidFill>
              </a:rPr>
              <a:t>interviews before Cohort 49 intake closes (8 weekends, 3 modules)</a:t>
            </a:r>
            <a:endParaRPr lang="en-US" sz="1100" dirty="0"/>
          </a:p>
        </p:txBody>
      </p:sp>
      <p:pic>
        <p:nvPicPr>
          <p:cNvPr id="7" name="Impact bar 2" descr="preencoded.png">    </p:cNvPr>
          <p:cNvPicPr>
            <a:picLocks noChangeAspect="1"/>
          </p:cNvPicPr>
          <p:nvPr/>
        </p:nvPicPr>
        <p:blipFill>
          <a:blip r:embed="rId2"/>
          <a:stretch>
            <a:fillRect/>
          </a:stretch>
        </p:blipFill>
        <p:spPr>
          <a:xfrm>
            <a:off x="731520" y="2468880"/>
            <a:ext cx="4572000" cy="603504"/>
          </a:xfrm>
          <a:prstGeom prst="rect">
            <a:avLst/>
          </a:prstGeom>
        </p:spPr>
      </p:pic>
      <p:sp>
        <p:nvSpPr>
          <p:cNvPr id="8" name="Text 4"/>
          <p:cNvSpPr txBox="1"/>
          <p:nvPr/>
        </p:nvSpPr>
        <p:spPr>
          <a:xfrm>
            <a:off x="914400" y="2468880"/>
            <a:ext cx="960120" cy="603504"/>
          </a:xfrm>
          <a:prstGeom prst="rect">
            <a:avLst/>
          </a:prstGeom>
          <a:noFill/>
          <a:ln/>
        </p:spPr>
        <p:txBody>
          <a:bodyPr wrap="square" lIns="0" tIns="0" rIns="0" bIns="0" rtlCol="0" anchor="ctr"/>
          <a:lstStyle/>
          <a:p>
            <a:pPr indent="0" marL="0">
              <a:buNone/>
            </a:pPr>
            <a:r>
              <a:rPr lang="en-US" sz="3400" dirty="0">
                <a:solidFill>
                  <a:schemeClr val="bg1"/>
                </a:solidFill>
                <a:latin typeface="Bebas Neue Regular" pitchFamily="34" charset="0"/>
                <a:ea typeface="Bebas Neue Regular" pitchFamily="34" charset="-122"/>
                <a:cs typeface="Bebas Neue Regular" pitchFamily="34" charset="-120"/>
              </a:rPr>
              <a:t>96+</a:t>
            </a:r>
            <a:endParaRPr lang="en-US" sz="3400" dirty="0"/>
          </a:p>
        </p:txBody>
      </p:sp>
      <p:sp>
        <p:nvSpPr>
          <p:cNvPr id="9" name="Text 5"/>
          <p:cNvSpPr txBox="1"/>
          <p:nvPr/>
        </p:nvSpPr>
        <p:spPr>
          <a:xfrm>
            <a:off x="1920240" y="2468880"/>
            <a:ext cx="3246120" cy="603504"/>
          </a:xfrm>
          <a:prstGeom prst="rect">
            <a:avLst/>
          </a:prstGeom>
          <a:noFill/>
          <a:ln/>
        </p:spPr>
        <p:txBody>
          <a:bodyPr wrap="square" lIns="0" tIns="0" rIns="0" bIns="0" rtlCol="0" anchor="ctr"/>
          <a:lstStyle/>
          <a:p>
            <a:pPr indent="0" marL="0">
              <a:buNone/>
            </a:pPr>
            <a:r>
              <a:rPr lang="en-US" sz="1100" dirty="0">
                <a:solidFill>
                  <a:schemeClr val="bg1"/>
                </a:solidFill>
              </a:rPr>
              <a:t>value posts from real HRCC experts</a:t>
            </a:r>
            <a:endParaRPr lang="en-US" sz="1100" dirty="0"/>
          </a:p>
        </p:txBody>
      </p:sp>
      <p:pic>
        <p:nvPicPr>
          <p:cNvPr id="10" name="Impact bar 3" descr="preencoded.png">    </p:cNvPr>
          <p:cNvPicPr>
            <a:picLocks noChangeAspect="1"/>
          </p:cNvPicPr>
          <p:nvPr/>
        </p:nvPicPr>
        <p:blipFill>
          <a:blip r:embed="rId3"/>
          <a:stretch>
            <a:fillRect/>
          </a:stretch>
        </p:blipFill>
        <p:spPr>
          <a:xfrm>
            <a:off x="1005840" y="3200400"/>
            <a:ext cx="4297680" cy="603504"/>
          </a:xfrm>
          <a:prstGeom prst="rect">
            <a:avLst/>
          </a:prstGeom>
        </p:spPr>
      </p:pic>
      <p:sp>
        <p:nvSpPr>
          <p:cNvPr id="11" name="Text 6"/>
          <p:cNvSpPr txBox="1"/>
          <p:nvPr/>
        </p:nvSpPr>
        <p:spPr>
          <a:xfrm>
            <a:off x="1188720" y="3200400"/>
            <a:ext cx="960120" cy="603504"/>
          </a:xfrm>
          <a:prstGeom prst="rect">
            <a:avLst/>
          </a:prstGeom>
          <a:noFill/>
          <a:ln/>
        </p:spPr>
        <p:txBody>
          <a:bodyPr wrap="square" lIns="0" tIns="0" rIns="0" bIns="0" rtlCol="0" anchor="ctr"/>
          <a:lstStyle/>
          <a:p>
            <a:pPr indent="0" marL="0">
              <a:buNone/>
            </a:pPr>
            <a:r>
              <a:rPr lang="en-US" sz="3400" dirty="0">
                <a:solidFill>
                  <a:schemeClr val="bg1"/>
                </a:solidFill>
                <a:latin typeface="Bebas Neue Regular" pitchFamily="34" charset="0"/>
                <a:ea typeface="Bebas Neue Regular" pitchFamily="34" charset="-122"/>
                <a:cs typeface="Bebas Neue Regular" pitchFamily="34" charset="-120"/>
              </a:rPr>
              <a:t>50%</a:t>
            </a:r>
            <a:endParaRPr lang="en-US" sz="3400" dirty="0"/>
          </a:p>
        </p:txBody>
      </p:sp>
      <p:sp>
        <p:nvSpPr>
          <p:cNvPr id="12" name="Text 7"/>
          <p:cNvSpPr txBox="1"/>
          <p:nvPr/>
        </p:nvSpPr>
        <p:spPr>
          <a:xfrm>
            <a:off x="2194560" y="3200400"/>
            <a:ext cx="2971800" cy="603504"/>
          </a:xfrm>
          <a:prstGeom prst="rect">
            <a:avLst/>
          </a:prstGeom>
          <a:noFill/>
          <a:ln/>
        </p:spPr>
        <p:txBody>
          <a:bodyPr wrap="square" lIns="0" tIns="0" rIns="0" bIns="0" rtlCol="0" anchor="ctr"/>
          <a:lstStyle/>
          <a:p>
            <a:pPr indent="0" marL="0">
              <a:buNone/>
            </a:pPr>
            <a:r>
              <a:rPr lang="en-US" sz="1100" dirty="0">
                <a:solidFill>
                  <a:schemeClr val="bg1"/>
                </a:solidFill>
              </a:rPr>
              <a:t>less time in the Wednesday shoot</a:t>
            </a:r>
            <a:endParaRPr lang="en-US" sz="1100" dirty="0"/>
          </a:p>
        </p:txBody>
      </p:sp>
      <p:pic>
        <p:nvPicPr>
          <p:cNvPr id="13" name="Impact bar 4" descr="preencoded.png">    </p:cNvPr>
          <p:cNvPicPr>
            <a:picLocks noChangeAspect="1"/>
          </p:cNvPicPr>
          <p:nvPr/>
        </p:nvPicPr>
        <p:blipFill>
          <a:blip r:embed="rId4"/>
          <a:stretch>
            <a:fillRect/>
          </a:stretch>
        </p:blipFill>
        <p:spPr>
          <a:xfrm>
            <a:off x="1280160" y="3931920"/>
            <a:ext cx="4023360" cy="603504"/>
          </a:xfrm>
          <a:prstGeom prst="rect">
            <a:avLst/>
          </a:prstGeom>
        </p:spPr>
      </p:pic>
      <p:sp>
        <p:nvSpPr>
          <p:cNvPr id="14" name="Text 8"/>
          <p:cNvSpPr txBox="1"/>
          <p:nvPr/>
        </p:nvSpPr>
        <p:spPr>
          <a:xfrm>
            <a:off x="1463040" y="3931920"/>
            <a:ext cx="960120" cy="603504"/>
          </a:xfrm>
          <a:prstGeom prst="rect">
            <a:avLst/>
          </a:prstGeom>
          <a:noFill/>
          <a:ln/>
        </p:spPr>
        <p:txBody>
          <a:bodyPr wrap="square" lIns="0" tIns="0" rIns="0" bIns="0" rtlCol="0" anchor="ctr"/>
          <a:lstStyle/>
          <a:p>
            <a:pPr indent="0" marL="0">
              <a:buNone/>
            </a:pPr>
            <a:r>
              <a:rPr lang="en-US" sz="3400" dirty="0">
                <a:solidFill>
                  <a:schemeClr val="bg1"/>
                </a:solidFill>
                <a:latin typeface="Bebas Neue Regular" pitchFamily="34" charset="0"/>
                <a:ea typeface="Bebas Neue Regular" pitchFamily="34" charset="-122"/>
                <a:cs typeface="Bebas Neue Regular" pitchFamily="34" charset="-120"/>
              </a:rPr>
              <a:t>0</a:t>
            </a:r>
            <a:endParaRPr lang="en-US" sz="3400" dirty="0"/>
          </a:p>
        </p:txBody>
      </p:sp>
      <p:sp>
        <p:nvSpPr>
          <p:cNvPr id="15" name="Text 9"/>
          <p:cNvSpPr txBox="1"/>
          <p:nvPr/>
        </p:nvSpPr>
        <p:spPr>
          <a:xfrm>
            <a:off x="2468880" y="3931920"/>
            <a:ext cx="2697480" cy="603504"/>
          </a:xfrm>
          <a:prstGeom prst="rect">
            <a:avLst/>
          </a:prstGeom>
          <a:noFill/>
          <a:ln/>
        </p:spPr>
        <p:txBody>
          <a:bodyPr wrap="square" lIns="0" tIns="0" rIns="0" bIns="0" rtlCol="0" anchor="ctr"/>
          <a:lstStyle/>
          <a:p>
            <a:pPr indent="0" marL="0">
              <a:buNone/>
            </a:pPr>
            <a:r>
              <a:rPr lang="en-US" sz="1100" dirty="0">
                <a:solidFill>
                  <a:schemeClr val="bg1"/>
                </a:solidFill>
              </a:rPr>
              <a:t>extra staff or ad spend needed</a:t>
            </a:r>
            <a:endParaRPr lang="en-US" sz="1100" dirty="0"/>
          </a:p>
        </p:txBody>
      </p:sp>
      <p:pic>
        <p:nvPicPr>
          <p:cNvPr id="16" name="Sustainability card" descr="preencoded.png">    </p:cNvPr>
          <p:cNvPicPr>
            <a:picLocks noChangeAspect="1"/>
          </p:cNvPicPr>
          <p:nvPr/>
        </p:nvPicPr>
        <p:blipFill>
          <a:blip r:embed="rId5"/>
          <a:stretch>
            <a:fillRect/>
          </a:stretch>
        </p:blipFill>
        <p:spPr>
          <a:xfrm>
            <a:off x="5532120" y="1737360"/>
            <a:ext cx="3154680" cy="2834640"/>
          </a:xfrm>
          <a:prstGeom prst="rect">
            <a:avLst/>
          </a:prstGeom>
        </p:spPr>
      </p:pic>
      <p:pic>
        <p:nvPicPr>
          <p:cNvPr id="17" name="Image 5" descr="preencoded.png">    </p:cNvPr>
          <p:cNvPicPr>
            <a:picLocks noChangeAspect="1"/>
          </p:cNvPicPr>
          <p:nvPr/>
        </p:nvPicPr>
        <p:blipFill>
          <a:blip r:embed="rId6"/>
          <a:stretch>
            <a:fillRect/>
          </a:stretch>
        </p:blipFill>
        <p:spPr>
          <a:xfrm>
            <a:off x="5742432" y="1901952"/>
            <a:ext cx="365760" cy="365760"/>
          </a:xfrm>
          <a:prstGeom prst="rect">
            <a:avLst/>
          </a:prstGeom>
        </p:spPr>
      </p:pic>
      <p:sp>
        <p:nvSpPr>
          <p:cNvPr id="18" name="Text 10"/>
          <p:cNvSpPr txBox="1"/>
          <p:nvPr/>
        </p:nvSpPr>
        <p:spPr>
          <a:xfrm>
            <a:off x="6199632" y="1920240"/>
            <a:ext cx="2286000" cy="329184"/>
          </a:xfrm>
          <a:prstGeom prst="rect">
            <a:avLst/>
          </a:prstGeom>
          <a:noFill/>
          <a:ln/>
        </p:spPr>
        <p:txBody>
          <a:bodyPr wrap="square" lIns="0" tIns="0" rIns="0" bIns="0" rtlCol="0" anchor="ctr"/>
          <a:lstStyle/>
          <a:p>
            <a:pPr indent="0" marL="0">
              <a:buNone/>
            </a:pPr>
            <a:r>
              <a:rPr lang="en-US" sz="1300" b="1" dirty="0">
                <a:solidFill>
                  <a:schemeClr val="bg1"/>
                </a:solidFill>
                <a:latin typeface="General Sans" pitchFamily="34" charset="0"/>
                <a:ea typeface="General Sans" pitchFamily="34" charset="-122"/>
                <a:cs typeface="General Sans" pitchFamily="34" charset="-120"/>
              </a:rPr>
              <a:t>Why it lasts</a:t>
            </a:r>
            <a:endParaRPr lang="en-US" sz="1300" dirty="0"/>
          </a:p>
        </p:txBody>
      </p:sp>
      <p:sp>
        <p:nvSpPr>
          <p:cNvPr id="19" name="Text 11"/>
          <p:cNvSpPr txBox="1"/>
          <p:nvPr/>
        </p:nvSpPr>
        <p:spPr>
          <a:xfrm>
            <a:off x="5742432" y="2395728"/>
            <a:ext cx="2788920" cy="210312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bg1"/>
                </a:solidFill>
              </a:rPr>
              <a:t>Every cohort has modules, so the supply never runs out</a:t>
            </a:r>
            <a:endParaRPr lang="en-US" sz="1100" dirty="0"/>
          </a:p>
          <a:p>
            <a:pPr marL="152400" indent="-152400">
              <a:spcAft>
                <a:spcPts val="600"/>
              </a:spcAft>
              <a:buSzPct val="100000"/>
              <a:buChar char="•"/>
            </a:pPr>
            <a:r>
              <a:rPr lang="en-US" sz="1100" dirty="0">
                <a:solidFill>
                  <a:schemeClr val="bg1"/>
                </a:solidFill>
              </a:rPr>
              <a:t>Three questions, two templates and a playbook mean anyone can run it</a:t>
            </a:r>
            <a:endParaRPr lang="en-US" sz="1100" dirty="0"/>
          </a:p>
          <a:p>
            <a:pPr marL="152400" indent="-152400">
              <a:spcAft>
                <a:spcPts val="600"/>
              </a:spcAft>
              <a:buSzPct val="100000"/>
              <a:buChar char="•"/>
            </a:pPr>
            <a:r>
              <a:rPr lang="en-US" sz="1100" dirty="0">
                <a:solidFill>
                  <a:schemeClr val="bg1"/>
                </a:solidFill>
              </a:rPr>
              <a:t>Clips are filed by programme for future intakes</a:t>
            </a:r>
            <a:endParaRPr lang="en-US" sz="1100" dirty="0"/>
          </a:p>
          <a:p>
            <a:pPr marL="152400" indent="-152400">
              <a:spcAft>
                <a:spcPts val="600"/>
              </a:spcAft>
              <a:buSzPct val="100000"/>
              <a:buChar char="•"/>
            </a:pPr>
            <a:r>
              <a:rPr lang="en-US" sz="1100" dirty="0">
                <a:solidFill>
                  <a:schemeClr val="bg1"/>
                </a:solidFill>
              </a:rPr>
              <a:t>Consulting trainings can run as their own lane, keeping the brands apart</a:t>
            </a:r>
            <a:endParaRPr lang="en-US" sz="1100" dirty="0"/>
          </a:p>
        </p:txBody>
      </p:sp>
      <p:sp>
        <p:nvSpPr>
          <p:cNvPr id="20" name="Text 12"/>
          <p:cNvSpPr txBox="1"/>
          <p:nvPr/>
        </p:nvSpPr>
        <p:spPr>
          <a:xfrm>
            <a:off x="457200" y="4645152"/>
            <a:ext cx="4937760" cy="274320"/>
          </a:xfrm>
          <a:prstGeom prst="rect">
            <a:avLst/>
          </a:prstGeom>
          <a:noFill/>
          <a:ln/>
        </p:spPr>
        <p:txBody>
          <a:bodyPr wrap="square" lIns="0" tIns="0" rIns="0" bIns="0" rtlCol="0" anchor="t"/>
          <a:lstStyle/>
          <a:p>
            <a:pPr indent="0" marL="0">
              <a:buNone/>
            </a:pPr>
            <a:r>
              <a:rPr lang="en-US" sz="900" dirty="0">
                <a:solidFill>
                  <a:schemeClr val="accent4"/>
                </a:solidFill>
              </a:rPr>
              <a:t>Assumes classes run every weekend from 10 October to 29 November. Confirm against the class calendar.</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Watermark"/>
          <p:cNvSpPr txBox="1"/>
          <p:nvPr/>
        </p:nvSpPr>
        <p:spPr>
          <a:xfrm>
            <a:off x="4023360" y="-182880"/>
            <a:ext cx="5303520" cy="5303520"/>
          </a:xfrm>
          <a:prstGeom prst="rect">
            <a:avLst/>
          </a:prstGeom>
          <a:noFill/>
          <a:ln/>
        </p:spPr>
        <p:txBody>
          <a:bodyPr wrap="square" lIns="0" tIns="0" rIns="0" bIns="0" rtlCol="0" anchor="ctr"/>
          <a:lstStyle/>
          <a:p>
            <a:pPr algn="r" indent="0" marL="0">
              <a:buNone/>
            </a:pPr>
            <a:r>
              <a:rPr lang="en-US" sz="30000" dirty="0">
                <a:solidFill>
                  <a:schemeClr val="bg1">
                    <a:alpha val="14000"/>
                  </a:schemeClr>
                </a:solidFill>
                <a:latin typeface="Bebas Neue Regular" pitchFamily="34" charset="0"/>
                <a:ea typeface="Bebas Neue Regular" pitchFamily="34" charset="-122"/>
                <a:cs typeface="Bebas Neue Regular" pitchFamily="34" charset="-120"/>
              </a:rPr>
              <a:t>02</a:t>
            </a:r>
            <a:endParaRPr lang="en-US" sz="30000" dirty="0"/>
          </a:p>
        </p:txBody>
      </p:sp>
      <p:sp>
        <p:nvSpPr>
          <p:cNvPr id="3" name="Text 1"/>
          <p:cNvSpPr txBox="1"/>
          <p:nvPr/>
        </p:nvSpPr>
        <p:spPr>
          <a:xfrm>
            <a:off x="457200" y="1600200"/>
            <a:ext cx="4572000" cy="365760"/>
          </a:xfrm>
          <a:prstGeom prst="rect">
            <a:avLst/>
          </a:prstGeom>
          <a:noFill/>
          <a:ln/>
        </p:spPr>
        <p:txBody>
          <a:bodyPr wrap="square" lIns="0" tIns="0" rIns="0" bIns="0" rtlCol="0" anchor="t"/>
          <a:lstStyle/>
          <a:p>
            <a:pPr indent="0" marL="0">
              <a:buNone/>
            </a:pPr>
            <a:r>
              <a:rPr lang="en-US" sz="1400" b="1" dirty="0">
                <a:solidFill>
                  <a:schemeClr val="accent3"/>
                </a:solidFill>
              </a:rPr>
              <a:t>Innovation 02</a:t>
            </a:r>
            <a:endParaRPr lang="en-US" sz="1400" dirty="0"/>
          </a:p>
        </p:txBody>
      </p:sp>
      <p:sp>
        <p:nvSpPr>
          <p:cNvPr id="4" name="Text 2"/>
          <p:cNvSpPr txBox="1"/>
          <p:nvPr/>
        </p:nvSpPr>
        <p:spPr>
          <a:xfrm>
            <a:off x="457200" y="1965960"/>
            <a:ext cx="5943600" cy="822960"/>
          </a:xfrm>
          <a:prstGeom prst="rect">
            <a:avLst/>
          </a:prstGeom>
          <a:noFill/>
          <a:ln/>
        </p:spPr>
        <p:txBody>
          <a:bodyPr wrap="square" lIns="0" tIns="0" rIns="0" bIns="0" rtlCol="0" anchor="ctr"/>
          <a:lstStyle/>
          <a:p>
            <a:pPr indent="0" marL="0">
              <a:buNone/>
            </a:pPr>
            <a:r>
              <a:rPr lang="en-US" sz="3800" b="1" dirty="0">
                <a:solidFill>
                  <a:schemeClr val="bg1"/>
                </a:solidFill>
                <a:latin typeface="General Sans" pitchFamily="34" charset="0"/>
                <a:ea typeface="General Sans" pitchFamily="34" charset="-122"/>
                <a:cs typeface="General Sans" pitchFamily="34" charset="-120"/>
              </a:rPr>
              <a:t>Social Enquiry Routing</a:t>
            </a:r>
            <a:endParaRPr lang="en-US" sz="3800" dirty="0"/>
          </a:p>
        </p:txBody>
      </p:sp>
      <p:sp>
        <p:nvSpPr>
          <p:cNvPr id="5" name="Text 3"/>
          <p:cNvSpPr txBox="1"/>
          <p:nvPr/>
        </p:nvSpPr>
        <p:spPr>
          <a:xfrm>
            <a:off x="457200" y="2880360"/>
            <a:ext cx="5120640" cy="685800"/>
          </a:xfrm>
          <a:prstGeom prst="rect">
            <a:avLst/>
          </a:prstGeom>
          <a:noFill/>
          <a:ln/>
        </p:spPr>
        <p:txBody>
          <a:bodyPr wrap="square" lIns="0" tIns="0" rIns="0" bIns="0" rtlCol="0" anchor="t"/>
          <a:lstStyle/>
          <a:p>
            <a:pPr indent="0" marL="0">
              <a:buNone/>
            </a:pPr>
            <a:r>
              <a:rPr lang="en-US" sz="1500" dirty="0">
                <a:solidFill>
                  <a:schemeClr val="accent5"/>
                </a:solidFill>
              </a:rPr>
              <a:t>Instant answers on social, and a tagged handover to Sales for everyone ready to enrol.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Every enquiry answered, every handover counted</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1. The innovation  ·  2. The current gap</a:t>
            </a:r>
            <a:endParaRPr lang="en-US" sz="1300" dirty="0"/>
          </a:p>
        </p:txBody>
      </p:sp>
      <p:pic>
        <p:nvPicPr>
          <p:cNvPr id="4" name="Gap card" descr="preencoded.png">    </p:cNvPr>
          <p:cNvPicPr>
            <a:picLocks noChangeAspect="1"/>
          </p:cNvPicPr>
          <p:nvPr/>
        </p:nvPicPr>
        <p:blipFill>
          <a:blip r:embed="rId1"/>
          <a:stretch>
            <a:fillRect/>
          </a:stretch>
        </p:blipFill>
        <p:spPr>
          <a:xfrm>
            <a:off x="457200" y="1783080"/>
            <a:ext cx="3931920" cy="2697480"/>
          </a:xfrm>
          <a:prstGeom prst="rect">
            <a:avLst/>
          </a:prstGeom>
        </p:spPr>
      </p:pic>
      <p:sp>
        <p:nvSpPr>
          <p:cNvPr id="5" name="Text 2"/>
          <p:cNvSpPr txBox="1"/>
          <p:nvPr/>
        </p:nvSpPr>
        <p:spPr>
          <a:xfrm>
            <a:off x="685800" y="1938528"/>
            <a:ext cx="3474720" cy="320040"/>
          </a:xfrm>
          <a:prstGeom prst="rect">
            <a:avLst/>
          </a:prstGeom>
          <a:noFill/>
          <a:ln/>
        </p:spPr>
        <p:txBody>
          <a:bodyPr wrap="square" lIns="0" tIns="0" rIns="0" bIns="0" rtlCol="0" anchor="t"/>
          <a:lstStyle/>
          <a:p>
            <a:pPr indent="0" marL="0">
              <a:buNone/>
            </a:pPr>
            <a:r>
              <a:rPr lang="en-US" sz="1500" b="1" dirty="0">
                <a:solidFill>
                  <a:schemeClr val="tx2"/>
                </a:solidFill>
                <a:latin typeface="General Sans" pitchFamily="34" charset="0"/>
                <a:ea typeface="General Sans" pitchFamily="34" charset="-122"/>
                <a:cs typeface="General Sans" pitchFamily="34" charset="-120"/>
              </a:rPr>
              <a:t>The gap today</a:t>
            </a:r>
            <a:endParaRPr lang="en-US" sz="1500" dirty="0"/>
          </a:p>
        </p:txBody>
      </p:sp>
      <p:sp>
        <p:nvSpPr>
          <p:cNvPr id="6" name="Text 3"/>
          <p:cNvSpPr txBox="1"/>
          <p:nvPr/>
        </p:nvSpPr>
        <p:spPr>
          <a:xfrm>
            <a:off x="685800" y="2331720"/>
            <a:ext cx="3520440" cy="201168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I answer every DM and comment by hand, often the same questions</a:t>
            </a:r>
            <a:endParaRPr lang="en-US" sz="1200" dirty="0"/>
          </a:p>
          <a:p>
            <a:pPr marL="152400" indent="-152400">
              <a:spcAft>
                <a:spcPts val="500"/>
              </a:spcAft>
              <a:buSzPct val="100000"/>
              <a:buChar char="•"/>
            </a:pPr>
            <a:r>
              <a:rPr lang="en-US" sz="1200" dirty="0">
                <a:solidFill>
                  <a:schemeClr val="tx1"/>
                </a:solidFill>
              </a:rPr>
              <a:t>The handover to Sales is a bare WhatsApp number</a:t>
            </a:r>
            <a:endParaRPr lang="en-US" sz="1200" dirty="0"/>
          </a:p>
          <a:p>
            <a:pPr marL="152400" indent="-152400">
              <a:spcAft>
                <a:spcPts val="500"/>
              </a:spcAft>
              <a:buSzPct val="100000"/>
              <a:buChar char="•"/>
            </a:pPr>
            <a:r>
              <a:rPr lang="en-US" sz="1200" dirty="0">
                <a:solidFill>
                  <a:schemeClr val="tx1"/>
                </a:solidFill>
              </a:rPr>
              <a:t>We can't tell how many reach Sales, or which programme they want</a:t>
            </a:r>
            <a:endParaRPr lang="en-US" sz="1200" dirty="0"/>
          </a:p>
          <a:p>
            <a:pPr marL="152400" indent="-152400">
              <a:spcAft>
                <a:spcPts val="500"/>
              </a:spcAft>
              <a:buSzPct val="100000"/>
              <a:buChar char="•"/>
            </a:pPr>
            <a:r>
              <a:rPr lang="en-US" sz="1200" dirty="0">
                <a:solidFill>
                  <a:schemeClr val="tx1"/>
                </a:solidFill>
              </a:rPr>
              <a:t>Lead forms and creators are tagged, but our own DMs are not</a:t>
            </a:r>
            <a:endParaRPr lang="en-US" sz="1200" dirty="0"/>
          </a:p>
        </p:txBody>
      </p:sp>
      <p:pic>
        <p:nvPicPr>
          <p:cNvPr id="7" name="Innovation card" descr="preencoded.png">    </p:cNvPr>
          <p:cNvPicPr>
            <a:picLocks noChangeAspect="1"/>
          </p:cNvPicPr>
          <p:nvPr/>
        </p:nvPicPr>
        <p:blipFill>
          <a:blip r:embed="rId2"/>
          <a:stretch>
            <a:fillRect/>
          </a:stretch>
        </p:blipFill>
        <p:spPr>
          <a:xfrm>
            <a:off x="4572000" y="1783080"/>
            <a:ext cx="4114800" cy="2697480"/>
          </a:xfrm>
          <a:prstGeom prst="rect">
            <a:avLst/>
          </a:prstGeom>
        </p:spPr>
      </p:pic>
      <p:sp>
        <p:nvSpPr>
          <p:cNvPr id="8" name="Text 4"/>
          <p:cNvSpPr txBox="1"/>
          <p:nvPr/>
        </p:nvSpPr>
        <p:spPr>
          <a:xfrm>
            <a:off x="4800600" y="1938528"/>
            <a:ext cx="3657600" cy="274320"/>
          </a:xfrm>
          <a:prstGeom prst="rect">
            <a:avLst/>
          </a:prstGeom>
          <a:noFill/>
          <a:ln/>
        </p:spPr>
        <p:txBody>
          <a:bodyPr wrap="square" lIns="0" tIns="0" rIns="0" bIns="0" rtlCol="0" anchor="t"/>
          <a:lstStyle/>
          <a:p>
            <a:pPr indent="0" marL="0">
              <a:buNone/>
            </a:pPr>
            <a:r>
              <a:rPr lang="en-US" sz="1300" dirty="0">
                <a:solidFill>
                  <a:schemeClr val="accent5"/>
                </a:solidFill>
              </a:rPr>
              <a:t>The innovation</a:t>
            </a:r>
            <a:endParaRPr lang="en-US" sz="1300" dirty="0"/>
          </a:p>
        </p:txBody>
      </p:sp>
      <p:sp>
        <p:nvSpPr>
          <p:cNvPr id="9" name="Text 5"/>
          <p:cNvSpPr txBox="1"/>
          <p:nvPr/>
        </p:nvSpPr>
        <p:spPr>
          <a:xfrm>
            <a:off x="4800600" y="2240280"/>
            <a:ext cx="3657600" cy="1188720"/>
          </a:xfrm>
          <a:prstGeom prst="rect">
            <a:avLst/>
          </a:prstGeom>
          <a:noFill/>
          <a:ln/>
        </p:spPr>
        <p:txBody>
          <a:bodyPr wrap="square" lIns="0" tIns="0" rIns="0" bIns="0" rtlCol="0" anchor="t"/>
          <a:lstStyle/>
          <a:p>
            <a:pPr indent="0" marL="0">
              <a:buNone/>
            </a:pPr>
            <a:r>
              <a:rPr lang="en-US" sz="1300" dirty="0">
                <a:solidFill>
                  <a:schemeClr val="bg1"/>
                </a:solidFill>
              </a:rPr>
              <a:t>Meta Business Suite gives the first answer from an AI-drafted FAQ library. Anyone ready to enrol gets a WhatsApp link for their programme with a reference code, and Sales adds one label.</a:t>
            </a:r>
            <a:endParaRPr lang="en-US" sz="1300" dirty="0"/>
          </a:p>
        </p:txBody>
      </p:sp>
      <p:pic>
        <p:nvPicPr>
          <p:cNvPr id="10" name="Message preview" descr="preencoded.png">    </p:cNvPr>
          <p:cNvPicPr>
            <a:picLocks noChangeAspect="1"/>
          </p:cNvPicPr>
          <p:nvPr/>
        </p:nvPicPr>
        <p:blipFill>
          <a:blip r:embed="rId3"/>
          <a:stretch>
            <a:fillRect/>
          </a:stretch>
        </p:blipFill>
        <p:spPr>
          <a:xfrm>
            <a:off x="4800600" y="3703320"/>
            <a:ext cx="3657600" cy="566928"/>
          </a:xfrm>
          <a:prstGeom prst="rect">
            <a:avLst/>
          </a:prstGeom>
        </p:spPr>
      </p:pic>
      <p:pic>
        <p:nvPicPr>
          <p:cNvPr id="11" name="Image 3" descr="preencoded.png">    </p:cNvPr>
          <p:cNvPicPr>
            <a:picLocks noChangeAspect="1"/>
          </p:cNvPicPr>
          <p:nvPr/>
        </p:nvPicPr>
        <p:blipFill>
          <a:blip r:embed="rId4"/>
          <a:stretch>
            <a:fillRect/>
          </a:stretch>
        </p:blipFill>
        <p:spPr>
          <a:xfrm>
            <a:off x="4937760" y="3840480"/>
            <a:ext cx="292608" cy="292608"/>
          </a:xfrm>
          <a:prstGeom prst="rect">
            <a:avLst/>
          </a:prstGeom>
        </p:spPr>
      </p:pic>
      <p:sp>
        <p:nvSpPr>
          <p:cNvPr id="12" name="Text 6"/>
          <p:cNvSpPr txBox="1"/>
          <p:nvPr/>
        </p:nvSpPr>
        <p:spPr>
          <a:xfrm>
            <a:off x="5349240" y="3703320"/>
            <a:ext cx="3017520" cy="566928"/>
          </a:xfrm>
          <a:prstGeom prst="rect">
            <a:avLst/>
          </a:prstGeom>
          <a:noFill/>
          <a:ln/>
        </p:spPr>
        <p:txBody>
          <a:bodyPr wrap="square" lIns="0" tIns="0" rIns="0" bIns="0" rtlCol="0" anchor="ctr"/>
          <a:lstStyle/>
          <a:p>
            <a:pPr indent="0" marL="0">
              <a:buNone/>
            </a:pPr>
            <a:r>
              <a:rPr lang="en-US" sz="1150" i="1" dirty="0">
                <a:solidFill>
                  <a:schemeClr val="tx2"/>
                </a:solidFill>
              </a:rPr>
              <a:t>"Hi, I'm interested in PHRi (ref: SM-PHRI)"</a:t>
            </a:r>
            <a:endParaRPr lang="en-US" sz="11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Five steps from comment to Sales</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4. Action plan</a:t>
            </a:r>
            <a:endParaRPr lang="en-US" sz="1300" dirty="0"/>
          </a:p>
        </p:txBody>
      </p:sp>
      <p:pic>
        <p:nvPicPr>
          <p:cNvPr id="4" name="Flow step 1" descr="preencoded.png">    </p:cNvPr>
          <p:cNvPicPr>
            <a:picLocks noChangeAspect="1"/>
          </p:cNvPicPr>
          <p:nvPr/>
        </p:nvPicPr>
        <p:blipFill>
          <a:blip r:embed="rId1"/>
          <a:stretch>
            <a:fillRect/>
          </a:stretch>
        </p:blipFill>
        <p:spPr>
          <a:xfrm>
            <a:off x="457200" y="1737360"/>
            <a:ext cx="1517904" cy="1965960"/>
          </a:xfrm>
          <a:prstGeom prst="rect">
            <a:avLst/>
          </a:prstGeom>
        </p:spPr>
      </p:pic>
      <p:sp>
        <p:nvSpPr>
          <p:cNvPr id="5" name="Text 2"/>
          <p:cNvSpPr txBox="1"/>
          <p:nvPr/>
        </p:nvSpPr>
        <p:spPr>
          <a:xfrm>
            <a:off x="594360" y="1810512"/>
            <a:ext cx="640080" cy="457200"/>
          </a:xfrm>
          <a:prstGeom prst="rect">
            <a:avLst/>
          </a:prstGeom>
          <a:noFill/>
          <a:ln/>
        </p:spPr>
        <p:txBody>
          <a:bodyPr wrap="square" lIns="0" tIns="0" rIns="0" bIns="0" rtlCol="0" anchor="ctr"/>
          <a:lstStyle/>
          <a:p>
            <a:pPr indent="0" marL="0">
              <a:buNone/>
            </a:pPr>
            <a:r>
              <a:rPr lang="en-US" sz="2600" dirty="0">
                <a:solidFill>
                  <a:schemeClr val="accent3"/>
                </a:solidFill>
                <a:latin typeface="Bebas Neue Regular" pitchFamily="34" charset="0"/>
                <a:ea typeface="Bebas Neue Regular" pitchFamily="34" charset="-122"/>
                <a:cs typeface="Bebas Neue Regular" pitchFamily="34" charset="-120"/>
              </a:rPr>
              <a:t>01</a:t>
            </a:r>
            <a:endParaRPr lang="en-US" sz="2600" dirty="0"/>
          </a:p>
        </p:txBody>
      </p:sp>
      <p:pic>
        <p:nvPicPr>
          <p:cNvPr id="6" name="Image 1" descr="preencoded.png">    </p:cNvPr>
          <p:cNvPicPr>
            <a:picLocks noChangeAspect="1"/>
          </p:cNvPicPr>
          <p:nvPr/>
        </p:nvPicPr>
        <p:blipFill>
          <a:blip r:embed="rId2"/>
          <a:stretch>
            <a:fillRect/>
          </a:stretch>
        </p:blipFill>
        <p:spPr>
          <a:xfrm>
            <a:off x="1444752" y="1865376"/>
            <a:ext cx="365760" cy="365760"/>
          </a:xfrm>
          <a:prstGeom prst="rect">
            <a:avLst/>
          </a:prstGeom>
        </p:spPr>
      </p:pic>
      <p:sp>
        <p:nvSpPr>
          <p:cNvPr id="7" name="Text 3"/>
          <p:cNvSpPr txBox="1"/>
          <p:nvPr/>
        </p:nvSpPr>
        <p:spPr>
          <a:xfrm>
            <a:off x="594360" y="2331720"/>
            <a:ext cx="1280160" cy="256032"/>
          </a:xfrm>
          <a:prstGeom prst="rect">
            <a:avLst/>
          </a:prstGeom>
          <a:noFill/>
          <a:ln/>
        </p:spPr>
        <p:txBody>
          <a:bodyPr wrap="square" lIns="0" tIns="0" rIns="0" bIns="0" rtlCol="0" anchor="t"/>
          <a:lstStyle/>
          <a:p>
            <a:pPr indent="0" marL="0">
              <a:buNone/>
            </a:pPr>
            <a:r>
              <a:rPr lang="en-US" sz="1200" b="1" dirty="0">
                <a:solidFill>
                  <a:schemeClr val="bg1"/>
                </a:solidFill>
                <a:latin typeface="General Sans" pitchFamily="34" charset="0"/>
                <a:ea typeface="General Sans" pitchFamily="34" charset="-122"/>
                <a:cs typeface="General Sans" pitchFamily="34" charset="-120"/>
              </a:rPr>
              <a:t>Comment or DM</a:t>
            </a:r>
            <a:endParaRPr lang="en-US" sz="1200" dirty="0"/>
          </a:p>
        </p:txBody>
      </p:sp>
      <p:sp>
        <p:nvSpPr>
          <p:cNvPr id="8" name="Text 4"/>
          <p:cNvSpPr txBox="1"/>
          <p:nvPr/>
        </p:nvSpPr>
        <p:spPr>
          <a:xfrm>
            <a:off x="594360" y="2633472"/>
            <a:ext cx="1280160" cy="1005840"/>
          </a:xfrm>
          <a:prstGeom prst="rect">
            <a:avLst/>
          </a:prstGeom>
          <a:noFill/>
          <a:ln/>
        </p:spPr>
        <p:txBody>
          <a:bodyPr wrap="square" lIns="0" tIns="0" rIns="0" bIns="0" rtlCol="0" anchor="t"/>
          <a:lstStyle/>
          <a:p>
            <a:pPr indent="0" marL="0">
              <a:buNone/>
            </a:pPr>
            <a:r>
              <a:rPr lang="en-US" sz="1050" dirty="0">
                <a:solidFill>
                  <a:schemeClr val="accent5"/>
                </a:solidFill>
              </a:rPr>
              <a:t>Someone comments a keyword like PHRI, or sends a message.</a:t>
            </a:r>
            <a:endParaRPr lang="en-US" sz="1050" dirty="0"/>
          </a:p>
        </p:txBody>
      </p:sp>
      <p:pic>
        <p:nvPicPr>
          <p:cNvPr id="9" name="Flow step 2" descr="preencoded.png">    </p:cNvPr>
          <p:cNvPicPr>
            <a:picLocks noChangeAspect="1"/>
          </p:cNvPicPr>
          <p:nvPr/>
        </p:nvPicPr>
        <p:blipFill>
          <a:blip r:embed="rId3"/>
          <a:stretch>
            <a:fillRect/>
          </a:stretch>
        </p:blipFill>
        <p:spPr>
          <a:xfrm>
            <a:off x="2135124" y="1737360"/>
            <a:ext cx="1517904" cy="1965960"/>
          </a:xfrm>
          <a:prstGeom prst="rect">
            <a:avLst/>
          </a:prstGeom>
        </p:spPr>
      </p:pic>
      <p:sp>
        <p:nvSpPr>
          <p:cNvPr id="10" name="Text 5"/>
          <p:cNvSpPr txBox="1"/>
          <p:nvPr/>
        </p:nvSpPr>
        <p:spPr>
          <a:xfrm>
            <a:off x="2272284" y="1810512"/>
            <a:ext cx="640080" cy="457200"/>
          </a:xfrm>
          <a:prstGeom prst="rect">
            <a:avLst/>
          </a:prstGeom>
          <a:noFill/>
          <a:ln/>
        </p:spPr>
        <p:txBody>
          <a:bodyPr wrap="square" lIns="0" tIns="0" rIns="0" bIns="0" rtlCol="0" anchor="ctr"/>
          <a:lstStyle/>
          <a:p>
            <a:pPr indent="0" marL="0">
              <a:buNone/>
            </a:pPr>
            <a:r>
              <a:rPr lang="en-US" sz="2600" dirty="0">
                <a:solidFill>
                  <a:schemeClr val="accent3"/>
                </a:solidFill>
                <a:latin typeface="Bebas Neue Regular" pitchFamily="34" charset="0"/>
                <a:ea typeface="Bebas Neue Regular" pitchFamily="34" charset="-122"/>
                <a:cs typeface="Bebas Neue Regular" pitchFamily="34" charset="-120"/>
              </a:rPr>
              <a:t>02</a:t>
            </a:r>
            <a:endParaRPr lang="en-US" sz="2600" dirty="0"/>
          </a:p>
        </p:txBody>
      </p:sp>
      <p:pic>
        <p:nvPicPr>
          <p:cNvPr id="11" name="Image 3" descr="preencoded.png">    </p:cNvPr>
          <p:cNvPicPr>
            <a:picLocks noChangeAspect="1"/>
          </p:cNvPicPr>
          <p:nvPr/>
        </p:nvPicPr>
        <p:blipFill>
          <a:blip r:embed="rId4"/>
          <a:stretch>
            <a:fillRect/>
          </a:stretch>
        </p:blipFill>
        <p:spPr>
          <a:xfrm>
            <a:off x="3122676" y="1865376"/>
            <a:ext cx="365760" cy="365760"/>
          </a:xfrm>
          <a:prstGeom prst="rect">
            <a:avLst/>
          </a:prstGeom>
        </p:spPr>
      </p:pic>
      <p:sp>
        <p:nvSpPr>
          <p:cNvPr id="12" name="Text 6"/>
          <p:cNvSpPr txBox="1"/>
          <p:nvPr/>
        </p:nvSpPr>
        <p:spPr>
          <a:xfrm>
            <a:off x="2272284" y="2331720"/>
            <a:ext cx="1280160" cy="256032"/>
          </a:xfrm>
          <a:prstGeom prst="rect">
            <a:avLst/>
          </a:prstGeom>
          <a:noFill/>
          <a:ln/>
        </p:spPr>
        <p:txBody>
          <a:bodyPr wrap="square" lIns="0" tIns="0" rIns="0" bIns="0" rtlCol="0" anchor="t"/>
          <a:lstStyle/>
          <a:p>
            <a:pPr indent="0" marL="0">
              <a:buNone/>
            </a:pPr>
            <a:r>
              <a:rPr lang="en-US" sz="1200" b="1" dirty="0">
                <a:solidFill>
                  <a:schemeClr val="bg1"/>
                </a:solidFill>
                <a:latin typeface="General Sans" pitchFamily="34" charset="0"/>
                <a:ea typeface="General Sans" pitchFamily="34" charset="-122"/>
                <a:cs typeface="General Sans" pitchFamily="34" charset="-120"/>
              </a:rPr>
              <a:t>Instant reply</a:t>
            </a:r>
            <a:endParaRPr lang="en-US" sz="1200" dirty="0"/>
          </a:p>
        </p:txBody>
      </p:sp>
      <p:sp>
        <p:nvSpPr>
          <p:cNvPr id="13" name="Text 7"/>
          <p:cNvSpPr txBox="1"/>
          <p:nvPr/>
        </p:nvSpPr>
        <p:spPr>
          <a:xfrm>
            <a:off x="2272284" y="2633472"/>
            <a:ext cx="1280160" cy="1005840"/>
          </a:xfrm>
          <a:prstGeom prst="rect">
            <a:avLst/>
          </a:prstGeom>
          <a:noFill/>
          <a:ln/>
        </p:spPr>
        <p:txBody>
          <a:bodyPr wrap="square" lIns="0" tIns="0" rIns="0" bIns="0" rtlCol="0" anchor="t"/>
          <a:lstStyle/>
          <a:p>
            <a:pPr indent="0" marL="0">
              <a:buNone/>
            </a:pPr>
            <a:r>
              <a:rPr lang="en-US" sz="1050" dirty="0">
                <a:solidFill>
                  <a:schemeClr val="accent5"/>
                </a:solidFill>
              </a:rPr>
              <a:t>Meta Business Suite answers at once from the FAQ library.</a:t>
            </a:r>
            <a:endParaRPr lang="en-US" sz="1050" dirty="0"/>
          </a:p>
        </p:txBody>
      </p:sp>
      <p:pic>
        <p:nvPicPr>
          <p:cNvPr id="14" name="Flow step 3" descr="preencoded.png">    </p:cNvPr>
          <p:cNvPicPr>
            <a:picLocks noChangeAspect="1"/>
          </p:cNvPicPr>
          <p:nvPr/>
        </p:nvPicPr>
        <p:blipFill>
          <a:blip r:embed="rId5"/>
          <a:stretch>
            <a:fillRect/>
          </a:stretch>
        </p:blipFill>
        <p:spPr>
          <a:xfrm>
            <a:off x="3813048" y="1737360"/>
            <a:ext cx="1517904" cy="1965960"/>
          </a:xfrm>
          <a:prstGeom prst="rect">
            <a:avLst/>
          </a:prstGeom>
        </p:spPr>
      </p:pic>
      <p:sp>
        <p:nvSpPr>
          <p:cNvPr id="15" name="Text 8"/>
          <p:cNvSpPr txBox="1"/>
          <p:nvPr/>
        </p:nvSpPr>
        <p:spPr>
          <a:xfrm>
            <a:off x="3950208" y="1810512"/>
            <a:ext cx="640080" cy="457200"/>
          </a:xfrm>
          <a:prstGeom prst="rect">
            <a:avLst/>
          </a:prstGeom>
          <a:noFill/>
          <a:ln/>
        </p:spPr>
        <p:txBody>
          <a:bodyPr wrap="square" lIns="0" tIns="0" rIns="0" bIns="0" rtlCol="0" anchor="ctr"/>
          <a:lstStyle/>
          <a:p>
            <a:pPr indent="0" marL="0">
              <a:buNone/>
            </a:pPr>
            <a:r>
              <a:rPr lang="en-US" sz="2600" dirty="0">
                <a:solidFill>
                  <a:schemeClr val="accent3"/>
                </a:solidFill>
                <a:latin typeface="Bebas Neue Regular" pitchFamily="34" charset="0"/>
                <a:ea typeface="Bebas Neue Regular" pitchFamily="34" charset="-122"/>
                <a:cs typeface="Bebas Neue Regular" pitchFamily="34" charset="-120"/>
              </a:rPr>
              <a:t>03</a:t>
            </a:r>
            <a:endParaRPr lang="en-US" sz="2600" dirty="0"/>
          </a:p>
        </p:txBody>
      </p:sp>
      <p:pic>
        <p:nvPicPr>
          <p:cNvPr id="16" name="Image 5" descr="preencoded.png">    </p:cNvPr>
          <p:cNvPicPr>
            <a:picLocks noChangeAspect="1"/>
          </p:cNvPicPr>
          <p:nvPr/>
        </p:nvPicPr>
        <p:blipFill>
          <a:blip r:embed="rId6"/>
          <a:stretch>
            <a:fillRect/>
          </a:stretch>
        </p:blipFill>
        <p:spPr>
          <a:xfrm>
            <a:off x="4800600" y="1865376"/>
            <a:ext cx="365760" cy="365760"/>
          </a:xfrm>
          <a:prstGeom prst="rect">
            <a:avLst/>
          </a:prstGeom>
        </p:spPr>
      </p:pic>
      <p:sp>
        <p:nvSpPr>
          <p:cNvPr id="17" name="Text 9"/>
          <p:cNvSpPr txBox="1"/>
          <p:nvPr/>
        </p:nvSpPr>
        <p:spPr>
          <a:xfrm>
            <a:off x="3950208" y="2331720"/>
            <a:ext cx="1280160" cy="256032"/>
          </a:xfrm>
          <a:prstGeom prst="rect">
            <a:avLst/>
          </a:prstGeom>
          <a:noFill/>
          <a:ln/>
        </p:spPr>
        <p:txBody>
          <a:bodyPr wrap="square" lIns="0" tIns="0" rIns="0" bIns="0" rtlCol="0" anchor="t"/>
          <a:lstStyle/>
          <a:p>
            <a:pPr indent="0" marL="0">
              <a:buNone/>
            </a:pPr>
            <a:r>
              <a:rPr lang="en-US" sz="1200" b="1" dirty="0">
                <a:solidFill>
                  <a:schemeClr val="bg1"/>
                </a:solidFill>
                <a:latin typeface="General Sans" pitchFamily="34" charset="0"/>
                <a:ea typeface="General Sans" pitchFamily="34" charset="-122"/>
                <a:cs typeface="General Sans" pitchFamily="34" charset="-120"/>
              </a:rPr>
              <a:t>I take over</a:t>
            </a:r>
            <a:endParaRPr lang="en-US" sz="1200" dirty="0"/>
          </a:p>
        </p:txBody>
      </p:sp>
      <p:sp>
        <p:nvSpPr>
          <p:cNvPr id="18" name="Text 10"/>
          <p:cNvSpPr txBox="1"/>
          <p:nvPr/>
        </p:nvSpPr>
        <p:spPr>
          <a:xfrm>
            <a:off x="3950208" y="2633472"/>
            <a:ext cx="1280160" cy="1005840"/>
          </a:xfrm>
          <a:prstGeom prst="rect">
            <a:avLst/>
          </a:prstGeom>
          <a:noFill/>
          <a:ln/>
        </p:spPr>
        <p:txBody>
          <a:bodyPr wrap="square" lIns="0" tIns="0" rIns="0" bIns="0" rtlCol="0" anchor="t"/>
          <a:lstStyle/>
          <a:p>
            <a:pPr indent="0" marL="0">
              <a:buNone/>
            </a:pPr>
            <a:r>
              <a:rPr lang="en-US" sz="1050" dirty="0">
                <a:solidFill>
                  <a:schemeClr val="accent5"/>
                </a:solidFill>
              </a:rPr>
              <a:t>A person replies within 15 minutes in working hours.</a:t>
            </a:r>
            <a:endParaRPr lang="en-US" sz="1050" dirty="0"/>
          </a:p>
        </p:txBody>
      </p:sp>
      <p:pic>
        <p:nvPicPr>
          <p:cNvPr id="19" name="Flow step 4" descr="preencoded.png">    </p:cNvPr>
          <p:cNvPicPr>
            <a:picLocks noChangeAspect="1"/>
          </p:cNvPicPr>
          <p:nvPr/>
        </p:nvPicPr>
        <p:blipFill>
          <a:blip r:embed="rId7"/>
          <a:stretch>
            <a:fillRect/>
          </a:stretch>
        </p:blipFill>
        <p:spPr>
          <a:xfrm>
            <a:off x="5490972" y="1737360"/>
            <a:ext cx="1517904" cy="1965960"/>
          </a:xfrm>
          <a:prstGeom prst="rect">
            <a:avLst/>
          </a:prstGeom>
        </p:spPr>
      </p:pic>
      <p:sp>
        <p:nvSpPr>
          <p:cNvPr id="20" name="Text 11"/>
          <p:cNvSpPr txBox="1"/>
          <p:nvPr/>
        </p:nvSpPr>
        <p:spPr>
          <a:xfrm>
            <a:off x="5628132" y="1810512"/>
            <a:ext cx="640080" cy="457200"/>
          </a:xfrm>
          <a:prstGeom prst="rect">
            <a:avLst/>
          </a:prstGeom>
          <a:noFill/>
          <a:ln/>
        </p:spPr>
        <p:txBody>
          <a:bodyPr wrap="square" lIns="0" tIns="0" rIns="0" bIns="0" rtlCol="0" anchor="ctr"/>
          <a:lstStyle/>
          <a:p>
            <a:pPr indent="0" marL="0">
              <a:buNone/>
            </a:pPr>
            <a:r>
              <a:rPr lang="en-US" sz="2600" dirty="0">
                <a:solidFill>
                  <a:schemeClr val="accent3"/>
                </a:solidFill>
                <a:latin typeface="Bebas Neue Regular" pitchFamily="34" charset="0"/>
                <a:ea typeface="Bebas Neue Regular" pitchFamily="34" charset="-122"/>
                <a:cs typeface="Bebas Neue Regular" pitchFamily="34" charset="-120"/>
              </a:rPr>
              <a:t>04</a:t>
            </a:r>
            <a:endParaRPr lang="en-US" sz="2600" dirty="0"/>
          </a:p>
        </p:txBody>
      </p:sp>
      <p:pic>
        <p:nvPicPr>
          <p:cNvPr id="21" name="Image 7" descr="preencoded.png">    </p:cNvPr>
          <p:cNvPicPr>
            <a:picLocks noChangeAspect="1"/>
          </p:cNvPicPr>
          <p:nvPr/>
        </p:nvPicPr>
        <p:blipFill>
          <a:blip r:embed="rId8"/>
          <a:stretch>
            <a:fillRect/>
          </a:stretch>
        </p:blipFill>
        <p:spPr>
          <a:xfrm>
            <a:off x="6478524" y="1865376"/>
            <a:ext cx="365760" cy="365760"/>
          </a:xfrm>
          <a:prstGeom prst="rect">
            <a:avLst/>
          </a:prstGeom>
        </p:spPr>
      </p:pic>
      <p:sp>
        <p:nvSpPr>
          <p:cNvPr id="22" name="Text 12"/>
          <p:cNvSpPr txBox="1"/>
          <p:nvPr/>
        </p:nvSpPr>
        <p:spPr>
          <a:xfrm>
            <a:off x="5628132" y="2331720"/>
            <a:ext cx="1280160" cy="256032"/>
          </a:xfrm>
          <a:prstGeom prst="rect">
            <a:avLst/>
          </a:prstGeom>
          <a:noFill/>
          <a:ln/>
        </p:spPr>
        <p:txBody>
          <a:bodyPr wrap="square" lIns="0" tIns="0" rIns="0" bIns="0" rtlCol="0" anchor="t"/>
          <a:lstStyle/>
          <a:p>
            <a:pPr indent="0" marL="0">
              <a:buNone/>
            </a:pPr>
            <a:r>
              <a:rPr lang="en-US" sz="1200" b="1" dirty="0">
                <a:solidFill>
                  <a:schemeClr val="bg1"/>
                </a:solidFill>
                <a:latin typeface="General Sans" pitchFamily="34" charset="0"/>
                <a:ea typeface="General Sans" pitchFamily="34" charset="-122"/>
                <a:cs typeface="General Sans" pitchFamily="34" charset="-120"/>
              </a:rPr>
              <a:t>Tagged link</a:t>
            </a:r>
            <a:endParaRPr lang="en-US" sz="1200" dirty="0"/>
          </a:p>
        </p:txBody>
      </p:sp>
      <p:sp>
        <p:nvSpPr>
          <p:cNvPr id="23" name="Text 13"/>
          <p:cNvSpPr txBox="1"/>
          <p:nvPr/>
        </p:nvSpPr>
        <p:spPr>
          <a:xfrm>
            <a:off x="5628132" y="2633472"/>
            <a:ext cx="1280160" cy="1005840"/>
          </a:xfrm>
          <a:prstGeom prst="rect">
            <a:avLst/>
          </a:prstGeom>
          <a:noFill/>
          <a:ln/>
        </p:spPr>
        <p:txBody>
          <a:bodyPr wrap="square" lIns="0" tIns="0" rIns="0" bIns="0" rtlCol="0" anchor="t"/>
          <a:lstStyle/>
          <a:p>
            <a:pPr indent="0" marL="0">
              <a:buNone/>
            </a:pPr>
            <a:r>
              <a:rPr lang="en-US" sz="1050" dirty="0">
                <a:solidFill>
                  <a:schemeClr val="accent5"/>
                </a:solidFill>
              </a:rPr>
              <a:t>Ready to enrol? They tap the programme link and press send.</a:t>
            </a:r>
            <a:endParaRPr lang="en-US" sz="1050" dirty="0"/>
          </a:p>
        </p:txBody>
      </p:sp>
      <p:pic>
        <p:nvPicPr>
          <p:cNvPr id="24" name="Flow step 5" descr="preencoded.png">    </p:cNvPr>
          <p:cNvPicPr>
            <a:picLocks noChangeAspect="1"/>
          </p:cNvPicPr>
          <p:nvPr/>
        </p:nvPicPr>
        <p:blipFill>
          <a:blip r:embed="rId9"/>
          <a:stretch>
            <a:fillRect/>
          </a:stretch>
        </p:blipFill>
        <p:spPr>
          <a:xfrm>
            <a:off x="7168896" y="1737360"/>
            <a:ext cx="1517904" cy="1965960"/>
          </a:xfrm>
          <a:prstGeom prst="rect">
            <a:avLst/>
          </a:prstGeom>
        </p:spPr>
      </p:pic>
      <p:sp>
        <p:nvSpPr>
          <p:cNvPr id="25" name="Text 14"/>
          <p:cNvSpPr txBox="1"/>
          <p:nvPr/>
        </p:nvSpPr>
        <p:spPr>
          <a:xfrm>
            <a:off x="7306056" y="1810512"/>
            <a:ext cx="640080" cy="457200"/>
          </a:xfrm>
          <a:prstGeom prst="rect">
            <a:avLst/>
          </a:prstGeom>
          <a:noFill/>
          <a:ln/>
        </p:spPr>
        <p:txBody>
          <a:bodyPr wrap="square" lIns="0" tIns="0" rIns="0" bIns="0" rtlCol="0" anchor="ctr"/>
          <a:lstStyle/>
          <a:p>
            <a:pPr indent="0" marL="0">
              <a:buNone/>
            </a:pPr>
            <a:r>
              <a:rPr lang="en-US" sz="2600" dirty="0">
                <a:solidFill>
                  <a:schemeClr val="accent3"/>
                </a:solidFill>
                <a:latin typeface="Bebas Neue Regular" pitchFamily="34" charset="0"/>
                <a:ea typeface="Bebas Neue Regular" pitchFamily="34" charset="-122"/>
                <a:cs typeface="Bebas Neue Regular" pitchFamily="34" charset="-120"/>
              </a:rPr>
              <a:t>05</a:t>
            </a:r>
            <a:endParaRPr lang="en-US" sz="2600" dirty="0"/>
          </a:p>
        </p:txBody>
      </p:sp>
      <p:pic>
        <p:nvPicPr>
          <p:cNvPr id="26" name="Image 9" descr="preencoded.png">    </p:cNvPr>
          <p:cNvPicPr>
            <a:picLocks noChangeAspect="1"/>
          </p:cNvPicPr>
          <p:nvPr/>
        </p:nvPicPr>
        <p:blipFill>
          <a:blip r:embed="rId10"/>
          <a:stretch>
            <a:fillRect/>
          </a:stretch>
        </p:blipFill>
        <p:spPr>
          <a:xfrm>
            <a:off x="8156448" y="1865376"/>
            <a:ext cx="365760" cy="365760"/>
          </a:xfrm>
          <a:prstGeom prst="rect">
            <a:avLst/>
          </a:prstGeom>
        </p:spPr>
      </p:pic>
      <p:sp>
        <p:nvSpPr>
          <p:cNvPr id="27" name="Text 15"/>
          <p:cNvSpPr txBox="1"/>
          <p:nvPr/>
        </p:nvSpPr>
        <p:spPr>
          <a:xfrm>
            <a:off x="7306056" y="2331720"/>
            <a:ext cx="1280160" cy="256032"/>
          </a:xfrm>
          <a:prstGeom prst="rect">
            <a:avLst/>
          </a:prstGeom>
          <a:noFill/>
          <a:ln/>
        </p:spPr>
        <p:txBody>
          <a:bodyPr wrap="square" lIns="0" tIns="0" rIns="0" bIns="0" rtlCol="0" anchor="t"/>
          <a:lstStyle/>
          <a:p>
            <a:pPr indent="0" marL="0">
              <a:buNone/>
            </a:pPr>
            <a:r>
              <a:rPr lang="en-US" sz="1200" b="1" dirty="0">
                <a:solidFill>
                  <a:schemeClr val="bg1"/>
                </a:solidFill>
                <a:latin typeface="General Sans" pitchFamily="34" charset="0"/>
                <a:ea typeface="General Sans" pitchFamily="34" charset="-122"/>
                <a:cs typeface="General Sans" pitchFamily="34" charset="-120"/>
              </a:rPr>
              <a:t>Sales labels</a:t>
            </a:r>
            <a:endParaRPr lang="en-US" sz="1200" dirty="0"/>
          </a:p>
        </p:txBody>
      </p:sp>
      <p:sp>
        <p:nvSpPr>
          <p:cNvPr id="28" name="Text 16"/>
          <p:cNvSpPr txBox="1"/>
          <p:nvPr/>
        </p:nvSpPr>
        <p:spPr>
          <a:xfrm>
            <a:off x="7306056" y="2633472"/>
            <a:ext cx="1280160" cy="1005840"/>
          </a:xfrm>
          <a:prstGeom prst="rect">
            <a:avLst/>
          </a:prstGeom>
          <a:noFill/>
          <a:ln/>
        </p:spPr>
        <p:txBody>
          <a:bodyPr wrap="square" lIns="0" tIns="0" rIns="0" bIns="0" rtlCol="0" anchor="t"/>
          <a:lstStyle/>
          <a:p>
            <a:pPr indent="0" marL="0">
              <a:buNone/>
            </a:pPr>
            <a:r>
              <a:rPr lang="en-US" sz="1050" dirty="0">
                <a:solidFill>
                  <a:schemeClr val="accent5"/>
                </a:solidFill>
              </a:rPr>
              <a:t>Sales sees the ref code, adds 'Social lead', and we count on Friday.</a:t>
            </a:r>
            <a:endParaRPr lang="en-US" sz="1050" dirty="0"/>
          </a:p>
        </p:txBody>
      </p:sp>
      <p:pic>
        <p:nvPicPr>
          <p:cNvPr id="29" name="Setup note" descr="preencoded.png">    </p:cNvPr>
          <p:cNvPicPr>
            <a:picLocks noChangeAspect="1"/>
          </p:cNvPicPr>
          <p:nvPr/>
        </p:nvPicPr>
        <p:blipFill>
          <a:blip r:embed="rId11"/>
          <a:stretch>
            <a:fillRect/>
          </a:stretch>
        </p:blipFill>
        <p:spPr>
          <a:xfrm>
            <a:off x="457200" y="3840480"/>
            <a:ext cx="4023360" cy="914400"/>
          </a:xfrm>
          <a:prstGeom prst="rect">
            <a:avLst/>
          </a:prstGeom>
        </p:spPr>
      </p:pic>
      <p:sp>
        <p:nvSpPr>
          <p:cNvPr id="30" name="Text 17"/>
          <p:cNvSpPr txBox="1"/>
          <p:nvPr/>
        </p:nvSpPr>
        <p:spPr>
          <a:xfrm>
            <a:off x="640080" y="3931920"/>
            <a:ext cx="3657600" cy="237744"/>
          </a:xfrm>
          <a:prstGeom prst="rect">
            <a:avLst/>
          </a:prstGeom>
          <a:noFill/>
          <a:ln/>
        </p:spPr>
        <p:txBody>
          <a:bodyPr wrap="square" lIns="0" tIns="0" rIns="0" bIns="0" rtlCol="0" anchor="t"/>
          <a:lstStyle/>
          <a:p>
            <a:pPr indent="0" marL="0">
              <a:buNone/>
            </a:pPr>
            <a:r>
              <a:rPr lang="en-US" sz="1200" b="1" dirty="0">
                <a:solidFill>
                  <a:schemeClr val="tx2"/>
                </a:solidFill>
              </a:rPr>
              <a:t>Set up once</a:t>
            </a:r>
            <a:endParaRPr lang="en-US" sz="1200" dirty="0"/>
          </a:p>
        </p:txBody>
      </p:sp>
      <p:sp>
        <p:nvSpPr>
          <p:cNvPr id="31" name="Text 18"/>
          <p:cNvSpPr txBox="1"/>
          <p:nvPr/>
        </p:nvSpPr>
        <p:spPr>
          <a:xfrm>
            <a:off x="640080" y="4187952"/>
            <a:ext cx="3703320" cy="502920"/>
          </a:xfrm>
          <a:prstGeom prst="rect">
            <a:avLst/>
          </a:prstGeom>
          <a:noFill/>
          <a:ln/>
        </p:spPr>
        <p:txBody>
          <a:bodyPr wrap="square" lIns="0" tIns="0" rIns="0" bIns="0" rtlCol="0" anchor="t"/>
          <a:lstStyle/>
          <a:p>
            <a:pPr indent="0" marL="0">
              <a:buNone/>
            </a:pPr>
            <a:r>
              <a:rPr lang="en-US" sz="1050" dirty="0">
                <a:solidFill>
                  <a:schemeClr val="tx1"/>
                </a:solidFill>
              </a:rPr>
              <a:t>Top 15 questions answered with AI, facts confirmed by Sales. Instant reply, FAQs, saved replies and keywords switched on.</a:t>
            </a:r>
            <a:endParaRPr lang="en-US" sz="1050" dirty="0"/>
          </a:p>
        </p:txBody>
      </p:sp>
      <p:pic>
        <p:nvPicPr>
          <p:cNvPr id="32" name="UTM note" descr="preencoded.png">    </p:cNvPr>
          <p:cNvPicPr>
            <a:picLocks noChangeAspect="1"/>
          </p:cNvPicPr>
          <p:nvPr/>
        </p:nvPicPr>
        <p:blipFill>
          <a:blip r:embed="rId12"/>
          <a:stretch>
            <a:fillRect/>
          </a:stretch>
        </p:blipFill>
        <p:spPr>
          <a:xfrm>
            <a:off x="4663440" y="3840480"/>
            <a:ext cx="4023360" cy="914400"/>
          </a:xfrm>
          <a:prstGeom prst="rect">
            <a:avLst/>
          </a:prstGeom>
        </p:spPr>
      </p:pic>
      <p:sp>
        <p:nvSpPr>
          <p:cNvPr id="33" name="Text 19"/>
          <p:cNvSpPr txBox="1"/>
          <p:nvPr/>
        </p:nvSpPr>
        <p:spPr>
          <a:xfrm>
            <a:off x="4846320" y="3931920"/>
            <a:ext cx="3657600" cy="237744"/>
          </a:xfrm>
          <a:prstGeom prst="rect">
            <a:avLst/>
          </a:prstGeom>
          <a:noFill/>
          <a:ln/>
        </p:spPr>
        <p:txBody>
          <a:bodyPr wrap="square" lIns="0" tIns="0" rIns="0" bIns="0" rtlCol="0" anchor="t"/>
          <a:lstStyle/>
          <a:p>
            <a:pPr indent="0" marL="0">
              <a:buNone/>
            </a:pPr>
            <a:r>
              <a:rPr lang="en-US" sz="1200" b="1" dirty="0">
                <a:solidFill>
                  <a:schemeClr val="tx2"/>
                </a:solidFill>
              </a:rPr>
              <a:t>Website links tracked too</a:t>
            </a:r>
            <a:endParaRPr lang="en-US" sz="1200" dirty="0"/>
          </a:p>
        </p:txBody>
      </p:sp>
      <p:sp>
        <p:nvSpPr>
          <p:cNvPr id="34" name="Text 20"/>
          <p:cNvSpPr txBox="1"/>
          <p:nvPr/>
        </p:nvSpPr>
        <p:spPr>
          <a:xfrm>
            <a:off x="4846320" y="4187952"/>
            <a:ext cx="3703320" cy="502920"/>
          </a:xfrm>
          <a:prstGeom prst="rect">
            <a:avLst/>
          </a:prstGeom>
          <a:noFill/>
          <a:ln/>
        </p:spPr>
        <p:txBody>
          <a:bodyPr wrap="square" lIns="0" tIns="0" rIns="0" bIns="0" rtlCol="0" anchor="t"/>
          <a:lstStyle/>
          <a:p>
            <a:pPr indent="0" marL="0">
              <a:buNone/>
            </a:pPr>
            <a:r>
              <a:rPr lang="en-US" sz="1050" dirty="0">
                <a:solidFill>
                  <a:schemeClr val="tx1"/>
                </a:solidFill>
              </a:rPr>
              <a:t>Every website and portal link carries a UTM tag, read in Google Analytics, so all three routes to HRCC are counted.</a:t>
            </a:r>
            <a:endParaRPr lang="en-US" sz="10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What success looks like by 31 December</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3. Objectives  ·  7. Performance indicators</a:t>
            </a:r>
            <a:endParaRPr lang="en-US" sz="1300" dirty="0"/>
          </a:p>
        </p:txBody>
      </p:sp>
      <p:pic>
        <p:nvPicPr>
          <p:cNvPr id="4" name="Target 1" descr="preencoded.png">    </p:cNvPr>
          <p:cNvPicPr>
            <a:picLocks noChangeAspect="1"/>
          </p:cNvPicPr>
          <p:nvPr/>
        </p:nvPicPr>
        <p:blipFill>
          <a:blip r:embed="rId1"/>
          <a:stretch>
            <a:fillRect/>
          </a:stretch>
        </p:blipFill>
        <p:spPr>
          <a:xfrm>
            <a:off x="457200" y="1737360"/>
            <a:ext cx="1874520" cy="1325880"/>
          </a:xfrm>
          <a:prstGeom prst="rect">
            <a:avLst/>
          </a:prstGeom>
        </p:spPr>
      </p:pic>
      <p:sp>
        <p:nvSpPr>
          <p:cNvPr id="5" name="Text 2"/>
          <p:cNvSpPr txBox="1"/>
          <p:nvPr/>
        </p:nvSpPr>
        <p:spPr>
          <a:xfrm>
            <a:off x="640080" y="1828800"/>
            <a:ext cx="1554480" cy="685800"/>
          </a:xfrm>
          <a:prstGeom prst="rect">
            <a:avLst/>
          </a:prstGeom>
          <a:noFill/>
          <a:ln/>
        </p:spPr>
        <p:txBody>
          <a:bodyPr wrap="square" lIns="0" tIns="0" rIns="0" bIns="0" rtlCol="0" anchor="ctr"/>
          <a:lstStyle/>
          <a:p>
            <a:pPr indent="0" marL="0">
              <a:buNone/>
            </a:pPr>
            <a:r>
              <a:rPr lang="en-US" sz="4400" dirty="0">
                <a:solidFill>
                  <a:schemeClr val="bg1"/>
                </a:solidFill>
                <a:latin typeface="Bebas Neue Regular" pitchFamily="34" charset="0"/>
                <a:ea typeface="Bebas Neue Regular" pitchFamily="34" charset="-122"/>
                <a:cs typeface="Bebas Neue Regular" pitchFamily="34" charset="-120"/>
              </a:rPr>
              <a:t>15 min</a:t>
            </a:r>
            <a:endParaRPr lang="en-US" sz="4400" dirty="0"/>
          </a:p>
        </p:txBody>
      </p:sp>
      <p:sp>
        <p:nvSpPr>
          <p:cNvPr id="6" name="Text 3"/>
          <p:cNvSpPr txBox="1"/>
          <p:nvPr/>
        </p:nvSpPr>
        <p:spPr>
          <a:xfrm>
            <a:off x="640080" y="2514600"/>
            <a:ext cx="1554480" cy="457200"/>
          </a:xfrm>
          <a:prstGeom prst="rect">
            <a:avLst/>
          </a:prstGeom>
          <a:noFill/>
          <a:ln/>
        </p:spPr>
        <p:txBody>
          <a:bodyPr wrap="square" lIns="0" tIns="0" rIns="0" bIns="0" rtlCol="0" anchor="t"/>
          <a:lstStyle/>
          <a:p>
            <a:pPr indent="0" marL="0">
              <a:buNone/>
            </a:pPr>
            <a:r>
              <a:rPr lang="en-US" sz="1100" dirty="0">
                <a:solidFill>
                  <a:schemeClr val="accent5"/>
                </a:solidFill>
              </a:rPr>
              <a:t>personal reply in working hours</a:t>
            </a:r>
            <a:endParaRPr lang="en-US" sz="1100" dirty="0"/>
          </a:p>
        </p:txBody>
      </p:sp>
      <p:pic>
        <p:nvPicPr>
          <p:cNvPr id="7" name="Target 2" descr="preencoded.png">    </p:cNvPr>
          <p:cNvPicPr>
            <a:picLocks noChangeAspect="1"/>
          </p:cNvPicPr>
          <p:nvPr/>
        </p:nvPicPr>
        <p:blipFill>
          <a:blip r:embed="rId2"/>
          <a:stretch>
            <a:fillRect/>
          </a:stretch>
        </p:blipFill>
        <p:spPr>
          <a:xfrm>
            <a:off x="2468880" y="1737360"/>
            <a:ext cx="1874520" cy="1325880"/>
          </a:xfrm>
          <a:prstGeom prst="rect">
            <a:avLst/>
          </a:prstGeom>
        </p:spPr>
      </p:pic>
      <p:sp>
        <p:nvSpPr>
          <p:cNvPr id="8" name="Text 4"/>
          <p:cNvSpPr txBox="1"/>
          <p:nvPr/>
        </p:nvSpPr>
        <p:spPr>
          <a:xfrm>
            <a:off x="2651760" y="1828800"/>
            <a:ext cx="1554480" cy="685800"/>
          </a:xfrm>
          <a:prstGeom prst="rect">
            <a:avLst/>
          </a:prstGeom>
          <a:noFill/>
          <a:ln/>
        </p:spPr>
        <p:txBody>
          <a:bodyPr wrap="square" lIns="0" tIns="0" rIns="0" bIns="0" rtlCol="0" anchor="ctr"/>
          <a:lstStyle/>
          <a:p>
            <a:pPr indent="0" marL="0">
              <a:buNone/>
            </a:pPr>
            <a:r>
              <a:rPr lang="en-US" sz="4400" dirty="0">
                <a:solidFill>
                  <a:schemeClr val="bg1"/>
                </a:solidFill>
                <a:latin typeface="Bebas Neue Regular" pitchFamily="34" charset="0"/>
                <a:ea typeface="Bebas Neue Regular" pitchFamily="34" charset="-122"/>
                <a:cs typeface="Bebas Neue Regular" pitchFamily="34" charset="-120"/>
              </a:rPr>
              <a:t>60%</a:t>
            </a:r>
            <a:endParaRPr lang="en-US" sz="4400" dirty="0"/>
          </a:p>
        </p:txBody>
      </p:sp>
      <p:sp>
        <p:nvSpPr>
          <p:cNvPr id="9" name="Text 5"/>
          <p:cNvSpPr txBox="1"/>
          <p:nvPr/>
        </p:nvSpPr>
        <p:spPr>
          <a:xfrm>
            <a:off x="2651760" y="2514600"/>
            <a:ext cx="1554480" cy="457200"/>
          </a:xfrm>
          <a:prstGeom prst="rect">
            <a:avLst/>
          </a:prstGeom>
          <a:noFill/>
          <a:ln/>
        </p:spPr>
        <p:txBody>
          <a:bodyPr wrap="square" lIns="0" tIns="0" rIns="0" bIns="0" rtlCol="0" anchor="t"/>
          <a:lstStyle/>
          <a:p>
            <a:pPr indent="0" marL="0">
              <a:buNone/>
            </a:pPr>
            <a:r>
              <a:rPr lang="en-US" sz="1100" dirty="0">
                <a:solidFill>
                  <a:schemeClr val="accent5"/>
                </a:solidFill>
              </a:rPr>
              <a:t>of routine questions answered automatically</a:t>
            </a:r>
            <a:endParaRPr lang="en-US" sz="1100" dirty="0"/>
          </a:p>
        </p:txBody>
      </p:sp>
      <p:pic>
        <p:nvPicPr>
          <p:cNvPr id="10" name="Target 3" descr="preencoded.png">    </p:cNvPr>
          <p:cNvPicPr>
            <a:picLocks noChangeAspect="1"/>
          </p:cNvPicPr>
          <p:nvPr/>
        </p:nvPicPr>
        <p:blipFill>
          <a:blip r:embed="rId3"/>
          <a:stretch>
            <a:fillRect/>
          </a:stretch>
        </p:blipFill>
        <p:spPr>
          <a:xfrm>
            <a:off x="457200" y="3200400"/>
            <a:ext cx="1874520" cy="1325880"/>
          </a:xfrm>
          <a:prstGeom prst="rect">
            <a:avLst/>
          </a:prstGeom>
        </p:spPr>
      </p:pic>
      <p:sp>
        <p:nvSpPr>
          <p:cNvPr id="11" name="Text 6"/>
          <p:cNvSpPr txBox="1"/>
          <p:nvPr/>
        </p:nvSpPr>
        <p:spPr>
          <a:xfrm>
            <a:off x="640080" y="3291840"/>
            <a:ext cx="1554480" cy="685800"/>
          </a:xfrm>
          <a:prstGeom prst="rect">
            <a:avLst/>
          </a:prstGeom>
          <a:noFill/>
          <a:ln/>
        </p:spPr>
        <p:txBody>
          <a:bodyPr wrap="square" lIns="0" tIns="0" rIns="0" bIns="0" rtlCol="0" anchor="ctr"/>
          <a:lstStyle/>
          <a:p>
            <a:pPr indent="0" marL="0">
              <a:buNone/>
            </a:pPr>
            <a:r>
              <a:rPr lang="en-US" sz="4400" dirty="0">
                <a:solidFill>
                  <a:schemeClr val="bg1"/>
                </a:solidFill>
                <a:latin typeface="Bebas Neue Regular" pitchFamily="34" charset="0"/>
                <a:ea typeface="Bebas Neue Regular" pitchFamily="34" charset="-122"/>
                <a:cs typeface="Bebas Neue Regular" pitchFamily="34" charset="-120"/>
              </a:rPr>
              <a:t>100%</a:t>
            </a:r>
            <a:endParaRPr lang="en-US" sz="4400" dirty="0"/>
          </a:p>
        </p:txBody>
      </p:sp>
      <p:sp>
        <p:nvSpPr>
          <p:cNvPr id="12" name="Text 7"/>
          <p:cNvSpPr txBox="1"/>
          <p:nvPr/>
        </p:nvSpPr>
        <p:spPr>
          <a:xfrm>
            <a:off x="640080" y="3977640"/>
            <a:ext cx="1554480" cy="457200"/>
          </a:xfrm>
          <a:prstGeom prst="rect">
            <a:avLst/>
          </a:prstGeom>
          <a:noFill/>
          <a:ln/>
        </p:spPr>
        <p:txBody>
          <a:bodyPr wrap="square" lIns="0" tIns="0" rIns="0" bIns="0" rtlCol="0" anchor="t"/>
          <a:lstStyle/>
          <a:p>
            <a:pPr indent="0" marL="0">
              <a:buNone/>
            </a:pPr>
            <a:r>
              <a:rPr lang="en-US" sz="1100" dirty="0">
                <a:solidFill>
                  <a:schemeClr val="accent5"/>
                </a:solidFill>
              </a:rPr>
              <a:t>of handovers through tagged links</a:t>
            </a:r>
            <a:endParaRPr lang="en-US" sz="1100" dirty="0"/>
          </a:p>
        </p:txBody>
      </p:sp>
      <p:pic>
        <p:nvPicPr>
          <p:cNvPr id="13" name="Target 4" descr="preencoded.png">    </p:cNvPr>
          <p:cNvPicPr>
            <a:picLocks noChangeAspect="1"/>
          </p:cNvPicPr>
          <p:nvPr/>
        </p:nvPicPr>
        <p:blipFill>
          <a:blip r:embed="rId4"/>
          <a:stretch>
            <a:fillRect/>
          </a:stretch>
        </p:blipFill>
        <p:spPr>
          <a:xfrm>
            <a:off x="2468880" y="3200400"/>
            <a:ext cx="1874520" cy="1325880"/>
          </a:xfrm>
          <a:prstGeom prst="rect">
            <a:avLst/>
          </a:prstGeom>
        </p:spPr>
      </p:pic>
      <p:sp>
        <p:nvSpPr>
          <p:cNvPr id="14" name="Text 8"/>
          <p:cNvSpPr txBox="1"/>
          <p:nvPr/>
        </p:nvSpPr>
        <p:spPr>
          <a:xfrm>
            <a:off x="2651760" y="3291840"/>
            <a:ext cx="1554480" cy="685800"/>
          </a:xfrm>
          <a:prstGeom prst="rect">
            <a:avLst/>
          </a:prstGeom>
          <a:noFill/>
          <a:ln/>
        </p:spPr>
        <p:txBody>
          <a:bodyPr wrap="square" lIns="0" tIns="0" rIns="0" bIns="0" rtlCol="0" anchor="ctr"/>
          <a:lstStyle/>
          <a:p>
            <a:pPr indent="0" marL="0">
              <a:buNone/>
            </a:pPr>
            <a:r>
              <a:rPr lang="en-US" sz="4400" dirty="0">
                <a:solidFill>
                  <a:schemeClr val="bg1"/>
                </a:solidFill>
                <a:latin typeface="Bebas Neue Regular" pitchFamily="34" charset="0"/>
                <a:ea typeface="Bebas Neue Regular" pitchFamily="34" charset="-122"/>
                <a:cs typeface="Bebas Neue Regular" pitchFamily="34" charset="-120"/>
              </a:rPr>
              <a:t>Weekly</a:t>
            </a:r>
            <a:endParaRPr lang="en-US" sz="4400" dirty="0"/>
          </a:p>
        </p:txBody>
      </p:sp>
      <p:sp>
        <p:nvSpPr>
          <p:cNvPr id="15" name="Text 9"/>
          <p:cNvSpPr txBox="1"/>
          <p:nvPr/>
        </p:nvSpPr>
        <p:spPr>
          <a:xfrm>
            <a:off x="2651760" y="3977640"/>
            <a:ext cx="1554480" cy="457200"/>
          </a:xfrm>
          <a:prstGeom prst="rect">
            <a:avLst/>
          </a:prstGeom>
          <a:noFill/>
          <a:ln/>
        </p:spPr>
        <p:txBody>
          <a:bodyPr wrap="square" lIns="0" tIns="0" rIns="0" bIns="0" rtlCol="0" anchor="t"/>
          <a:lstStyle/>
          <a:p>
            <a:pPr indent="0" marL="0">
              <a:buNone/>
            </a:pPr>
            <a:r>
              <a:rPr lang="en-US" sz="1100" dirty="0">
                <a:solidFill>
                  <a:schemeClr val="accent5"/>
                </a:solidFill>
              </a:rPr>
              <a:t>count of social leads shared with Sales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26280" y="1737360"/>
          <a:ext cx="4160520" cy="914400"/>
        </p:xfrm>
        <a:graphic>
          <a:graphicData uri="http://schemas.openxmlformats.org/drawingml/2006/table">
            <a:tbl>
              <a:tblPr/>
              <a:tblGrid>
                <a:gridCol w="1828800"/>
                <a:gridCol w="1143000"/>
                <a:gridCol w="1188720"/>
              </a:tblGrid>
              <a:tr h="365760">
                <a:tc>
                  <a:txBody>
                    <a:bodyPr/>
                    <a:lstStyle/>
                    <a:p>
                      <a:pPr indent="0" marL="0">
                        <a:buNone/>
                      </a:pPr>
                      <a:r>
                        <a:rPr lang="en-US" sz="1050" b="1" dirty="0">
                          <a:solidFill>
                            <a:srgbClr val="FFFFFF"/>
                          </a:solidFill>
                          <a:latin typeface="Geist" pitchFamily="34" charset="0"/>
                          <a:ea typeface="Geist" pitchFamily="34" charset="-122"/>
                          <a:cs typeface="Geist" pitchFamily="34" charset="-120"/>
                        </a:rPr>
                        <a:t>Indicator</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171365"/>
                    </a:solidFill>
                  </a:tcPr>
                </a:tc>
                <a:tc>
                  <a:txBody>
                    <a:bodyPr/>
                    <a:lstStyle/>
                    <a:p>
                      <a:pPr indent="0" marL="0">
                        <a:buNone/>
                      </a:pPr>
                      <a:r>
                        <a:rPr lang="en-US" sz="1050" b="1" dirty="0">
                          <a:solidFill>
                            <a:srgbClr val="FFFFFF"/>
                          </a:solidFill>
                          <a:latin typeface="Geist" pitchFamily="34" charset="0"/>
                          <a:ea typeface="Geist" pitchFamily="34" charset="-122"/>
                          <a:cs typeface="Geist" pitchFamily="34" charset="-120"/>
                        </a:rPr>
                        <a:t>Baseline</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171365"/>
                    </a:solidFill>
                  </a:tcPr>
                </a:tc>
                <a:tc>
                  <a:txBody>
                    <a:bodyPr/>
                    <a:lstStyle/>
                    <a:p>
                      <a:pPr indent="0" marL="0">
                        <a:buNone/>
                      </a:pPr>
                      <a:r>
                        <a:rPr lang="en-US" sz="1050" b="1" dirty="0">
                          <a:solidFill>
                            <a:srgbClr val="FFFFFF"/>
                          </a:solidFill>
                          <a:latin typeface="Geist" pitchFamily="34" charset="0"/>
                          <a:ea typeface="Geist" pitchFamily="34" charset="-122"/>
                          <a:cs typeface="Geist" pitchFamily="34" charset="-120"/>
                        </a:rPr>
                        <a:t>Q4 target</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171365"/>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Personal reply time</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20-DM sample</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15 min or less</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Answered automatically</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0%</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60% or more</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Tagged handovers to Sales</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Not tracked</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Counted weekly</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Social leads that enrol</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Not tracked</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Monthly report</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Hours on repeat replies</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Week 1 log</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Down a third</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EEF2FA"/>
                    </a:solidFill>
                  </a:tcPr>
                </a:tc>
              </a:tr>
              <a:tr h="365760">
                <a:tc>
                  <a:txBody>
                    <a:bodyPr/>
                    <a:lstStyle/>
                    <a:p>
                      <a:pPr indent="0" marL="0">
                        <a:buNone/>
                      </a:pPr>
                      <a:r>
                        <a:rPr lang="en-US" sz="1050" dirty="0">
                          <a:solidFill>
                            <a:srgbClr val="1D1B4F"/>
                          </a:solidFill>
                          <a:latin typeface="Geist" pitchFamily="34" charset="0"/>
                          <a:ea typeface="Geist" pitchFamily="34" charset="-122"/>
                          <a:cs typeface="Geist" pitchFamily="34" charset="-120"/>
                        </a:rPr>
                        <a:t>Keyword-triggered DMs</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0</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c>
                  <a:txBody>
                    <a:bodyPr/>
                    <a:lstStyle/>
                    <a:p>
                      <a:pPr indent="0" marL="0">
                        <a:buNone/>
                      </a:pPr>
                      <a:r>
                        <a:rPr lang="en-US" sz="1050" dirty="0">
                          <a:solidFill>
                            <a:srgbClr val="1D1B4F"/>
                          </a:solidFill>
                          <a:latin typeface="Geist" pitchFamily="34" charset="0"/>
                          <a:ea typeface="Geist" pitchFamily="34" charset="-122"/>
                          <a:cs typeface="Geist" pitchFamily="34" charset="-120"/>
                        </a:rPr>
                        <a:t>Tracked per post</a:t>
                      </a:r>
                      <a:endParaRPr lang="en-US" sz="1050" dirty="0">
                        <a:latin typeface="Geist" charset="0"/>
                        <a:ea typeface="Geist" charset="0"/>
                        <a:cs typeface="Geist" charset="0"/>
                      </a:endParaRPr>
                    </a:p>
                  </a:txBody>
                  <a:tcPr marL="73152" marR="73152" marT="27432" marB="27432" anchor="ctr">
                    <a:lnL w="6350" cap="flat" cmpd="sng" algn="ctr">
                      <a:solidFill>
                        <a:srgbClr val="D6E0F2"/>
                      </a:solidFill>
                      <a:prstDash val="solid"/>
                      <a:round/>
                      <a:headEnd type="none" w="med" len="med"/>
                      <a:tailEnd type="none" w="med" len="med"/>
                    </a:lnL>
                    <a:lnR w="6350" cap="flat" cmpd="sng" algn="ctr">
                      <a:solidFill>
                        <a:srgbClr val="D6E0F2"/>
                      </a:solidFill>
                      <a:prstDash val="solid"/>
                      <a:round/>
                      <a:headEnd type="none" w="med" len="med"/>
                      <a:tailEnd type="none" w="med" len="med"/>
                    </a:lnR>
                    <a:lnT w="6350" cap="flat" cmpd="sng" algn="ctr">
                      <a:solidFill>
                        <a:srgbClr val="D6E0F2"/>
                      </a:solidFill>
                      <a:prstDash val="solid"/>
                      <a:round/>
                      <a:headEnd type="none" w="med" len="med"/>
                      <a:tailEnd type="none" w="med" len="med"/>
                    </a:lnT>
                    <a:lnB w="6350" cap="flat" cmpd="sng" algn="ctr">
                      <a:solidFill>
                        <a:srgbClr val="D6E0F2"/>
                      </a:solidFill>
                      <a:prstDash val="solid"/>
                      <a:round/>
                      <a:headEnd type="none" w="med" len="med"/>
                      <a:tailEnd type="none" w="med" len="med"/>
                    </a:lnB>
                    <a:solidFill>
                      <a:srgbClr val="FFFFFF"/>
                    </a:solidFill>
                  </a:tcPr>
                </a:tc>
              </a:tr>
            </a:tbl>
          </a:graphicData>
        </a:graphic>
      </p:graphicFrame>
      <p:sp>
        <p:nvSpPr>
          <p:cNvPr id="17" name="Text 10"/>
          <p:cNvSpPr txBox="1"/>
          <p:nvPr/>
        </p:nvSpPr>
        <p:spPr>
          <a:xfrm>
            <a:off x="4526280" y="4480560"/>
            <a:ext cx="4160520" cy="274320"/>
          </a:xfrm>
          <a:prstGeom prst="rect">
            <a:avLst/>
          </a:prstGeom>
          <a:noFill/>
          <a:ln/>
        </p:spPr>
        <p:txBody>
          <a:bodyPr wrap="square" lIns="0" tIns="0" rIns="0" bIns="0" rtlCol="0" anchor="t"/>
          <a:lstStyle/>
          <a:p>
            <a:pPr indent="0" marL="0">
              <a:buNone/>
            </a:pPr>
            <a:r>
              <a:rPr lang="en-US" sz="1000" dirty="0">
                <a:solidFill>
                  <a:schemeClr val="accent4"/>
                </a:solidFill>
              </a:rPr>
              <a:t>Enrolment figures come from Sales' 'Social lead' label, so the count is a minimum.</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October to December, step by step</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5. Resources and support  ·  6. Timeline</a:t>
            </a:r>
            <a:endParaRPr lang="en-US" sz="1300" dirty="0"/>
          </a:p>
        </p:txBody>
      </p:sp>
      <p:pic>
        <p:nvPicPr>
          <p:cNvPr id="4" name="OCT card" descr="preencoded.png">    </p:cNvPr>
          <p:cNvPicPr>
            <a:picLocks noChangeAspect="1"/>
          </p:cNvPicPr>
          <p:nvPr/>
        </p:nvPicPr>
        <p:blipFill>
          <a:blip r:embed="rId1"/>
          <a:stretch>
            <a:fillRect/>
          </a:stretch>
        </p:blipFill>
        <p:spPr>
          <a:xfrm>
            <a:off x="457200" y="1737360"/>
            <a:ext cx="1737360" cy="2926080"/>
          </a:xfrm>
          <a:prstGeom prst="rect">
            <a:avLst/>
          </a:prstGeom>
        </p:spPr>
      </p:pic>
      <p:sp>
        <p:nvSpPr>
          <p:cNvPr id="5" name="Text 2"/>
          <p:cNvSpPr txBox="1"/>
          <p:nvPr/>
        </p:nvSpPr>
        <p:spPr>
          <a:xfrm>
            <a:off x="640080" y="1828800"/>
            <a:ext cx="1371600" cy="640080"/>
          </a:xfrm>
          <a:prstGeom prst="rect">
            <a:avLst/>
          </a:prstGeom>
          <a:noFill/>
          <a:ln/>
        </p:spPr>
        <p:txBody>
          <a:bodyPr wrap="square" lIns="0" tIns="0" rIns="0" bIns="0" rtlCol="0" anchor="ctr"/>
          <a:lstStyle/>
          <a:p>
            <a:pPr indent="0" marL="0">
              <a:buNone/>
            </a:pPr>
            <a:r>
              <a:rPr lang="en-US" sz="4400" dirty="0">
                <a:solidFill>
                  <a:schemeClr val="bg1"/>
                </a:solidFill>
                <a:latin typeface="Bebas Neue Regular" pitchFamily="34" charset="0"/>
                <a:ea typeface="Bebas Neue Regular" pitchFamily="34" charset="-122"/>
                <a:cs typeface="Bebas Neue Regular" pitchFamily="34" charset="-120"/>
              </a:rPr>
              <a:t>OCT</a:t>
            </a:r>
            <a:endParaRPr lang="en-US" sz="4400" dirty="0"/>
          </a:p>
        </p:txBody>
      </p:sp>
      <p:sp>
        <p:nvSpPr>
          <p:cNvPr id="6" name="Text 3"/>
          <p:cNvSpPr txBox="1"/>
          <p:nvPr/>
        </p:nvSpPr>
        <p:spPr>
          <a:xfrm>
            <a:off x="640080" y="2487168"/>
            <a:ext cx="1463040" cy="246888"/>
          </a:xfrm>
          <a:prstGeom prst="rect">
            <a:avLst/>
          </a:prstGeom>
          <a:noFill/>
          <a:ln/>
        </p:spPr>
        <p:txBody>
          <a:bodyPr wrap="square" lIns="0" tIns="0" rIns="0" bIns="0" rtlCol="0" anchor="t"/>
          <a:lstStyle/>
          <a:p>
            <a:pPr indent="0" marL="0">
              <a:buNone/>
            </a:pPr>
            <a:r>
              <a:rPr lang="en-US" sz="1100" b="1" dirty="0">
                <a:solidFill>
                  <a:schemeClr val="accent3"/>
                </a:solidFill>
              </a:rPr>
              <a:t>Build and switch on</a:t>
            </a:r>
            <a:endParaRPr lang="en-US" sz="1100" dirty="0"/>
          </a:p>
        </p:txBody>
      </p:sp>
      <p:sp>
        <p:nvSpPr>
          <p:cNvPr id="7" name="Text 4"/>
          <p:cNvSpPr txBox="1"/>
          <p:nvPr/>
        </p:nvSpPr>
        <p:spPr>
          <a:xfrm>
            <a:off x="640080" y="2788920"/>
            <a:ext cx="1463040" cy="1783080"/>
          </a:xfrm>
          <a:prstGeom prst="rect">
            <a:avLst/>
          </a:prstGeom>
          <a:noFill/>
          <a:ln/>
        </p:spPr>
        <p:txBody>
          <a:bodyPr wrap="square" lIns="0" tIns="0" rIns="0" bIns="0" rtlCol="0" anchor="t"/>
          <a:lstStyle/>
          <a:p>
            <a:pPr indent="0" marL="0">
              <a:buNone/>
            </a:pPr>
            <a:r>
              <a:rPr lang="en-US" sz="1100" dirty="0">
                <a:solidFill>
                  <a:schemeClr val="bg1"/>
                </a:solidFill>
              </a:rPr>
              <a:t>Time 20 recent DMs for a baseline. Write the FAQ library, switch on automations, create the links, brief Sales.</a:t>
            </a:r>
            <a:endParaRPr lang="en-US" sz="1100" dirty="0"/>
          </a:p>
        </p:txBody>
      </p:sp>
      <p:pic>
        <p:nvPicPr>
          <p:cNvPr id="8" name="NOV card" descr="preencoded.png">    </p:cNvPr>
          <p:cNvPicPr>
            <a:picLocks noChangeAspect="1"/>
          </p:cNvPicPr>
          <p:nvPr/>
        </p:nvPicPr>
        <p:blipFill>
          <a:blip r:embed="rId2"/>
          <a:stretch>
            <a:fillRect/>
          </a:stretch>
        </p:blipFill>
        <p:spPr>
          <a:xfrm>
            <a:off x="2331720" y="1737360"/>
            <a:ext cx="1737360" cy="2926080"/>
          </a:xfrm>
          <a:prstGeom prst="rect">
            <a:avLst/>
          </a:prstGeom>
        </p:spPr>
      </p:pic>
      <p:sp>
        <p:nvSpPr>
          <p:cNvPr id="9" name="Text 5"/>
          <p:cNvSpPr txBox="1"/>
          <p:nvPr/>
        </p:nvSpPr>
        <p:spPr>
          <a:xfrm>
            <a:off x="2514600" y="1828800"/>
            <a:ext cx="1371600" cy="640080"/>
          </a:xfrm>
          <a:prstGeom prst="rect">
            <a:avLst/>
          </a:prstGeom>
          <a:noFill/>
          <a:ln/>
        </p:spPr>
        <p:txBody>
          <a:bodyPr wrap="square" lIns="0" tIns="0" rIns="0" bIns="0" rtlCol="0" anchor="ctr"/>
          <a:lstStyle/>
          <a:p>
            <a:pPr indent="0" marL="0">
              <a:buNone/>
            </a:pPr>
            <a:r>
              <a:rPr lang="en-US" sz="4400" dirty="0">
                <a:solidFill>
                  <a:schemeClr val="bg1"/>
                </a:solidFill>
                <a:latin typeface="Bebas Neue Regular" pitchFamily="34" charset="0"/>
                <a:ea typeface="Bebas Neue Regular" pitchFamily="34" charset="-122"/>
                <a:cs typeface="Bebas Neue Regular" pitchFamily="34" charset="-120"/>
              </a:rPr>
              <a:t>NOV</a:t>
            </a:r>
            <a:endParaRPr lang="en-US" sz="4400" dirty="0"/>
          </a:p>
        </p:txBody>
      </p:sp>
      <p:sp>
        <p:nvSpPr>
          <p:cNvPr id="10" name="Text 6"/>
          <p:cNvSpPr txBox="1"/>
          <p:nvPr/>
        </p:nvSpPr>
        <p:spPr>
          <a:xfrm>
            <a:off x="2514600" y="2487168"/>
            <a:ext cx="1463040" cy="246888"/>
          </a:xfrm>
          <a:prstGeom prst="rect">
            <a:avLst/>
          </a:prstGeom>
          <a:noFill/>
          <a:ln/>
        </p:spPr>
        <p:txBody>
          <a:bodyPr wrap="square" lIns="0" tIns="0" rIns="0" bIns="0" rtlCol="0" anchor="t"/>
          <a:lstStyle/>
          <a:p>
            <a:pPr indent="0" marL="0">
              <a:buNone/>
            </a:pPr>
            <a:r>
              <a:rPr lang="en-US" sz="1100" b="1" dirty="0">
                <a:solidFill>
                  <a:schemeClr val="accent3"/>
                </a:solidFill>
              </a:rPr>
              <a:t>Live on every post</a:t>
            </a:r>
            <a:endParaRPr lang="en-US" sz="1100" dirty="0"/>
          </a:p>
        </p:txBody>
      </p:sp>
      <p:sp>
        <p:nvSpPr>
          <p:cNvPr id="11" name="Text 7"/>
          <p:cNvSpPr txBox="1"/>
          <p:nvPr/>
        </p:nvSpPr>
        <p:spPr>
          <a:xfrm>
            <a:off x="2514600" y="2788920"/>
            <a:ext cx="1463040" cy="1783080"/>
          </a:xfrm>
          <a:prstGeom prst="rect">
            <a:avLst/>
          </a:prstGeom>
          <a:noFill/>
          <a:ln/>
        </p:spPr>
        <p:txBody>
          <a:bodyPr wrap="square" lIns="0" tIns="0" rIns="0" bIns="0" rtlCol="0" anchor="t"/>
          <a:lstStyle/>
          <a:p>
            <a:pPr indent="0" marL="0">
              <a:buNone/>
            </a:pPr>
            <a:r>
              <a:rPr lang="en-US" sz="1100" dirty="0">
                <a:solidFill>
                  <a:schemeClr val="bg1"/>
                </a:solidFill>
              </a:rPr>
              <a:t>Running on all Cohort 49 posts and the classroom series. Friday count with Sales. Fix weak answers.</a:t>
            </a:r>
            <a:endParaRPr lang="en-US" sz="1100" dirty="0"/>
          </a:p>
        </p:txBody>
      </p:sp>
      <p:pic>
        <p:nvPicPr>
          <p:cNvPr id="12" name="DEC card" descr="preencoded.png">    </p:cNvPr>
          <p:cNvPicPr>
            <a:picLocks noChangeAspect="1"/>
          </p:cNvPicPr>
          <p:nvPr/>
        </p:nvPicPr>
        <p:blipFill>
          <a:blip r:embed="rId3"/>
          <a:stretch>
            <a:fillRect/>
          </a:stretch>
        </p:blipFill>
        <p:spPr>
          <a:xfrm>
            <a:off x="4206240" y="1737360"/>
            <a:ext cx="1737360" cy="2926080"/>
          </a:xfrm>
          <a:prstGeom prst="rect">
            <a:avLst/>
          </a:prstGeom>
        </p:spPr>
      </p:pic>
      <p:sp>
        <p:nvSpPr>
          <p:cNvPr id="13" name="Text 8"/>
          <p:cNvSpPr txBox="1"/>
          <p:nvPr/>
        </p:nvSpPr>
        <p:spPr>
          <a:xfrm>
            <a:off x="4389120" y="1828800"/>
            <a:ext cx="1371600" cy="640080"/>
          </a:xfrm>
          <a:prstGeom prst="rect">
            <a:avLst/>
          </a:prstGeom>
          <a:noFill/>
          <a:ln/>
        </p:spPr>
        <p:txBody>
          <a:bodyPr wrap="square" lIns="0" tIns="0" rIns="0" bIns="0" rtlCol="0" anchor="ctr"/>
          <a:lstStyle/>
          <a:p>
            <a:pPr indent="0" marL="0">
              <a:buNone/>
            </a:pPr>
            <a:r>
              <a:rPr lang="en-US" sz="4400" dirty="0">
                <a:solidFill>
                  <a:schemeClr val="bg1"/>
                </a:solidFill>
                <a:latin typeface="Bebas Neue Regular" pitchFamily="34" charset="0"/>
                <a:ea typeface="Bebas Neue Regular" pitchFamily="34" charset="-122"/>
                <a:cs typeface="Bebas Neue Regular" pitchFamily="34" charset="-120"/>
              </a:rPr>
              <a:t>DEC</a:t>
            </a:r>
            <a:endParaRPr lang="en-US" sz="4400" dirty="0"/>
          </a:p>
        </p:txBody>
      </p:sp>
      <p:sp>
        <p:nvSpPr>
          <p:cNvPr id="14" name="Text 9"/>
          <p:cNvSpPr txBox="1"/>
          <p:nvPr/>
        </p:nvSpPr>
        <p:spPr>
          <a:xfrm>
            <a:off x="4389120" y="2487168"/>
            <a:ext cx="1463040" cy="246888"/>
          </a:xfrm>
          <a:prstGeom prst="rect">
            <a:avLst/>
          </a:prstGeom>
          <a:noFill/>
          <a:ln/>
        </p:spPr>
        <p:txBody>
          <a:bodyPr wrap="square" lIns="0" tIns="0" rIns="0" bIns="0" rtlCol="0" anchor="t"/>
          <a:lstStyle/>
          <a:p>
            <a:pPr indent="0" marL="0">
              <a:buNone/>
            </a:pPr>
            <a:r>
              <a:rPr lang="en-US" sz="1100" b="1" dirty="0">
                <a:solidFill>
                  <a:schemeClr val="accent3"/>
                </a:solidFill>
              </a:rPr>
              <a:t>Report and review</a:t>
            </a:r>
            <a:endParaRPr lang="en-US" sz="1100" dirty="0"/>
          </a:p>
        </p:txBody>
      </p:sp>
      <p:sp>
        <p:nvSpPr>
          <p:cNvPr id="15" name="Text 10"/>
          <p:cNvSpPr txBox="1"/>
          <p:nvPr/>
        </p:nvSpPr>
        <p:spPr>
          <a:xfrm>
            <a:off x="4389120" y="2788920"/>
            <a:ext cx="1463040" cy="1783080"/>
          </a:xfrm>
          <a:prstGeom prst="rect">
            <a:avLst/>
          </a:prstGeom>
          <a:noFill/>
          <a:ln/>
        </p:spPr>
        <p:txBody>
          <a:bodyPr wrap="square" lIns="0" tIns="0" rIns="0" bIns="0" rtlCol="0" anchor="t"/>
          <a:lstStyle/>
          <a:p>
            <a:pPr indent="0" marL="0">
              <a:buNone/>
            </a:pPr>
            <a:r>
              <a:rPr lang="en-US" sz="1100" dirty="0">
                <a:solidFill>
                  <a:schemeClr val="bg1"/>
                </a:solidFill>
              </a:rPr>
              <a:t>Compare with baseline. Report social leads and enrolments. Playbook ready for the next intake.</a:t>
            </a:r>
            <a:endParaRPr lang="en-US" sz="1100" dirty="0"/>
          </a:p>
        </p:txBody>
      </p:sp>
      <p:pic>
        <p:nvPicPr>
          <p:cNvPr id="16" name="Support card" descr="preencoded.png">    </p:cNvPr>
          <p:cNvPicPr>
            <a:picLocks noChangeAspect="1"/>
          </p:cNvPicPr>
          <p:nvPr/>
        </p:nvPicPr>
        <p:blipFill>
          <a:blip r:embed="rId4"/>
          <a:stretch>
            <a:fillRect/>
          </a:stretch>
        </p:blipFill>
        <p:spPr>
          <a:xfrm>
            <a:off x="6172200" y="1737360"/>
            <a:ext cx="2514600" cy="2926080"/>
          </a:xfrm>
          <a:prstGeom prst="rect">
            <a:avLst/>
          </a:prstGeom>
        </p:spPr>
      </p:pic>
      <p:pic>
        <p:nvPicPr>
          <p:cNvPr id="17" name="Image 4" descr="preencoded.png">    </p:cNvPr>
          <p:cNvPicPr>
            <a:picLocks noChangeAspect="1"/>
          </p:cNvPicPr>
          <p:nvPr/>
        </p:nvPicPr>
        <p:blipFill>
          <a:blip r:embed="rId5"/>
          <a:stretch>
            <a:fillRect/>
          </a:stretch>
        </p:blipFill>
        <p:spPr>
          <a:xfrm>
            <a:off x="6355080" y="1901952"/>
            <a:ext cx="365760" cy="365760"/>
          </a:xfrm>
          <a:prstGeom prst="rect">
            <a:avLst/>
          </a:prstGeom>
        </p:spPr>
      </p:pic>
      <p:sp>
        <p:nvSpPr>
          <p:cNvPr id="18" name="Text 11"/>
          <p:cNvSpPr txBox="1"/>
          <p:nvPr/>
        </p:nvSpPr>
        <p:spPr>
          <a:xfrm>
            <a:off x="6812280" y="1920240"/>
            <a:ext cx="1828800" cy="329184"/>
          </a:xfrm>
          <a:prstGeom prst="rect">
            <a:avLst/>
          </a:prstGeom>
          <a:noFill/>
          <a:ln/>
        </p:spPr>
        <p:txBody>
          <a:bodyPr wrap="square" lIns="0" tIns="0" rIns="0" bIns="0" rtlCol="0" anchor="ctr"/>
          <a:lstStyle/>
          <a:p>
            <a:pPr indent="0" marL="0">
              <a:buNone/>
            </a:pPr>
            <a:r>
              <a:rPr lang="en-US" sz="1300" b="1" dirty="0">
                <a:solidFill>
                  <a:schemeClr val="tx2"/>
                </a:solidFill>
                <a:latin typeface="General Sans" pitchFamily="34" charset="0"/>
                <a:ea typeface="General Sans" pitchFamily="34" charset="-122"/>
                <a:cs typeface="General Sans" pitchFamily="34" charset="-120"/>
              </a:rPr>
              <a:t>Support I need</a:t>
            </a:r>
            <a:endParaRPr lang="en-US" sz="1300" dirty="0"/>
          </a:p>
        </p:txBody>
      </p:sp>
      <p:sp>
        <p:nvSpPr>
          <p:cNvPr id="19" name="Text 12"/>
          <p:cNvSpPr txBox="1"/>
          <p:nvPr/>
        </p:nvSpPr>
        <p:spPr>
          <a:xfrm>
            <a:off x="6355080" y="2395728"/>
            <a:ext cx="2194560" cy="219456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tx1"/>
                </a:solidFill>
              </a:rPr>
              <a:t>Your approval of the reply standard and the Sales label step</a:t>
            </a:r>
            <a:endParaRPr lang="en-US" sz="1100" dirty="0"/>
          </a:p>
          <a:p>
            <a:pPr marL="152400" indent="-152400">
              <a:spcAft>
                <a:spcPts val="600"/>
              </a:spcAft>
              <a:buSzPct val="100000"/>
              <a:buChar char="•"/>
            </a:pPr>
            <a:r>
              <a:rPr lang="en-US" sz="1100" dirty="0">
                <a:solidFill>
                  <a:schemeClr val="tx1"/>
                </a:solidFill>
              </a:rPr>
              <a:t>Sales: one label per tagged chat and a Friday count</a:t>
            </a:r>
            <a:endParaRPr lang="en-US" sz="1100" dirty="0"/>
          </a:p>
          <a:p>
            <a:pPr marL="152400" indent="-152400">
              <a:spcAft>
                <a:spcPts val="600"/>
              </a:spcAft>
              <a:buSzPct val="100000"/>
              <a:buChar char="•"/>
            </a:pPr>
            <a:r>
              <a:rPr lang="en-US" sz="1100" dirty="0">
                <a:solidFill>
                  <a:schemeClr val="tx1"/>
                </a:solidFill>
              </a:rPr>
              <a:t>Sales to confirm FAQ facts: fees, dates, requirements</a:t>
            </a:r>
            <a:endParaRPr lang="en-US" sz="1100" dirty="0"/>
          </a:p>
          <a:p>
            <a:pPr marL="152400" indent="-152400">
              <a:spcAft>
                <a:spcPts val="600"/>
              </a:spcAft>
              <a:buSzPct val="100000"/>
              <a:buChar char="•"/>
            </a:pPr>
            <a:r>
              <a:rPr lang="en-US" sz="1100" dirty="0">
                <a:solidFill>
                  <a:schemeClr val="tx1"/>
                </a:solidFill>
              </a:rPr>
              <a:t>Tools we already use: Meta Business Suite, WhatsApp Business, Google Analytics</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Expected Q4 impact</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8. Expected impact  ·  9. Sustainability</a:t>
            </a:r>
            <a:endParaRPr lang="en-US" sz="1300" dirty="0"/>
          </a:p>
        </p:txBody>
      </p:sp>
      <p:pic>
        <p:nvPicPr>
          <p:cNvPr id="4" name="Impact bar 1" descr="preencoded.png">    </p:cNvPr>
          <p:cNvPicPr>
            <a:picLocks noChangeAspect="1"/>
          </p:cNvPicPr>
          <p:nvPr/>
        </p:nvPicPr>
        <p:blipFill>
          <a:blip r:embed="rId1"/>
          <a:stretch>
            <a:fillRect/>
          </a:stretch>
        </p:blipFill>
        <p:spPr>
          <a:xfrm>
            <a:off x="457200" y="1737360"/>
            <a:ext cx="4846320" cy="603504"/>
          </a:xfrm>
          <a:prstGeom prst="rect">
            <a:avLst/>
          </a:prstGeom>
        </p:spPr>
      </p:pic>
      <p:sp>
        <p:nvSpPr>
          <p:cNvPr id="5" name="Text 2"/>
          <p:cNvSpPr txBox="1"/>
          <p:nvPr/>
        </p:nvSpPr>
        <p:spPr>
          <a:xfrm>
            <a:off x="640080" y="1737360"/>
            <a:ext cx="960120" cy="603504"/>
          </a:xfrm>
          <a:prstGeom prst="rect">
            <a:avLst/>
          </a:prstGeom>
          <a:noFill/>
          <a:ln/>
        </p:spPr>
        <p:txBody>
          <a:bodyPr wrap="square" lIns="0" tIns="0" rIns="0" bIns="0" rtlCol="0" anchor="ctr"/>
          <a:lstStyle/>
          <a:p>
            <a:pPr indent="0" marL="0">
              <a:buNone/>
            </a:pPr>
            <a:r>
              <a:rPr lang="en-US" sz="3400" dirty="0">
                <a:solidFill>
                  <a:schemeClr val="bg1"/>
                </a:solidFill>
                <a:latin typeface="Bebas Neue Regular" pitchFamily="34" charset="0"/>
                <a:ea typeface="Bebas Neue Regular" pitchFamily="34" charset="-122"/>
                <a:cs typeface="Bebas Neue Regular" pitchFamily="34" charset="-120"/>
              </a:rPr>
              <a:t>1st</a:t>
            </a:r>
            <a:endParaRPr lang="en-US" sz="3400" dirty="0"/>
          </a:p>
        </p:txBody>
      </p:sp>
      <p:sp>
        <p:nvSpPr>
          <p:cNvPr id="6" name="Text 3"/>
          <p:cNvSpPr txBox="1"/>
          <p:nvPr/>
        </p:nvSpPr>
        <p:spPr>
          <a:xfrm>
            <a:off x="1645920" y="1737360"/>
            <a:ext cx="3520440" cy="603504"/>
          </a:xfrm>
          <a:prstGeom prst="rect">
            <a:avLst/>
          </a:prstGeom>
          <a:noFill/>
          <a:ln/>
        </p:spPr>
        <p:txBody>
          <a:bodyPr wrap="square" lIns="0" tIns="0" rIns="0" bIns="0" rtlCol="0" anchor="ctr"/>
          <a:lstStyle/>
          <a:p>
            <a:pPr indent="0" marL="0">
              <a:buNone/>
            </a:pPr>
            <a:r>
              <a:rPr lang="en-US" sz="1100" dirty="0">
                <a:solidFill>
                  <a:schemeClr val="bg1"/>
                </a:solidFill>
              </a:rPr>
              <a:t>time HRCC can count enrolments that began as a social conversation</a:t>
            </a:r>
            <a:endParaRPr lang="en-US" sz="1100" dirty="0"/>
          </a:p>
        </p:txBody>
      </p:sp>
      <p:pic>
        <p:nvPicPr>
          <p:cNvPr id="7" name="Impact bar 2" descr="preencoded.png">    </p:cNvPr>
          <p:cNvPicPr>
            <a:picLocks noChangeAspect="1"/>
          </p:cNvPicPr>
          <p:nvPr/>
        </p:nvPicPr>
        <p:blipFill>
          <a:blip r:embed="rId2"/>
          <a:stretch>
            <a:fillRect/>
          </a:stretch>
        </p:blipFill>
        <p:spPr>
          <a:xfrm>
            <a:off x="731520" y="2468880"/>
            <a:ext cx="4572000" cy="603504"/>
          </a:xfrm>
          <a:prstGeom prst="rect">
            <a:avLst/>
          </a:prstGeom>
        </p:spPr>
      </p:pic>
      <p:sp>
        <p:nvSpPr>
          <p:cNvPr id="8" name="Text 4"/>
          <p:cNvSpPr txBox="1"/>
          <p:nvPr/>
        </p:nvSpPr>
        <p:spPr>
          <a:xfrm>
            <a:off x="914400" y="2468880"/>
            <a:ext cx="960120" cy="603504"/>
          </a:xfrm>
          <a:prstGeom prst="rect">
            <a:avLst/>
          </a:prstGeom>
          <a:noFill/>
          <a:ln/>
        </p:spPr>
        <p:txBody>
          <a:bodyPr wrap="square" lIns="0" tIns="0" rIns="0" bIns="0" rtlCol="0" anchor="ctr"/>
          <a:lstStyle/>
          <a:p>
            <a:pPr indent="0" marL="0">
              <a:buNone/>
            </a:pPr>
            <a:r>
              <a:rPr lang="en-US" sz="3400" dirty="0">
                <a:solidFill>
                  <a:schemeClr val="bg1"/>
                </a:solidFill>
                <a:latin typeface="Bebas Neue Regular" pitchFamily="34" charset="0"/>
                <a:ea typeface="Bebas Neue Regular" pitchFamily="34" charset="-122"/>
                <a:cs typeface="Bebas Neue Regular" pitchFamily="34" charset="-120"/>
              </a:rPr>
              <a:t>15</a:t>
            </a:r>
            <a:endParaRPr lang="en-US" sz="3400" dirty="0"/>
          </a:p>
        </p:txBody>
      </p:sp>
      <p:sp>
        <p:nvSpPr>
          <p:cNvPr id="9" name="Text 5"/>
          <p:cNvSpPr txBox="1"/>
          <p:nvPr/>
        </p:nvSpPr>
        <p:spPr>
          <a:xfrm>
            <a:off x="1920240" y="2468880"/>
            <a:ext cx="3246120" cy="603504"/>
          </a:xfrm>
          <a:prstGeom prst="rect">
            <a:avLst/>
          </a:prstGeom>
          <a:noFill/>
          <a:ln/>
        </p:spPr>
        <p:txBody>
          <a:bodyPr wrap="square" lIns="0" tIns="0" rIns="0" bIns="0" rtlCol="0" anchor="ctr"/>
          <a:lstStyle/>
          <a:p>
            <a:pPr indent="0" marL="0">
              <a:buNone/>
            </a:pPr>
            <a:r>
              <a:rPr lang="en-US" sz="1100" dirty="0">
                <a:solidFill>
                  <a:schemeClr val="bg1"/>
                </a:solidFill>
              </a:rPr>
              <a:t>minutes or less to a personal reply, from no set standard today</a:t>
            </a:r>
            <a:endParaRPr lang="en-US" sz="1100" dirty="0"/>
          </a:p>
        </p:txBody>
      </p:sp>
      <p:pic>
        <p:nvPicPr>
          <p:cNvPr id="10" name="Impact bar 3" descr="preencoded.png">    </p:cNvPr>
          <p:cNvPicPr>
            <a:picLocks noChangeAspect="1"/>
          </p:cNvPicPr>
          <p:nvPr/>
        </p:nvPicPr>
        <p:blipFill>
          <a:blip r:embed="rId3"/>
          <a:stretch>
            <a:fillRect/>
          </a:stretch>
        </p:blipFill>
        <p:spPr>
          <a:xfrm>
            <a:off x="1005840" y="3200400"/>
            <a:ext cx="4297680" cy="603504"/>
          </a:xfrm>
          <a:prstGeom prst="rect">
            <a:avLst/>
          </a:prstGeom>
        </p:spPr>
      </p:pic>
      <p:sp>
        <p:nvSpPr>
          <p:cNvPr id="11" name="Text 6"/>
          <p:cNvSpPr txBox="1"/>
          <p:nvPr/>
        </p:nvSpPr>
        <p:spPr>
          <a:xfrm>
            <a:off x="1188720" y="3200400"/>
            <a:ext cx="960120" cy="603504"/>
          </a:xfrm>
          <a:prstGeom prst="rect">
            <a:avLst/>
          </a:prstGeom>
          <a:noFill/>
          <a:ln/>
        </p:spPr>
        <p:txBody>
          <a:bodyPr wrap="square" lIns="0" tIns="0" rIns="0" bIns="0" rtlCol="0" anchor="ctr"/>
          <a:lstStyle/>
          <a:p>
            <a:pPr indent="0" marL="0">
              <a:buNone/>
            </a:pPr>
            <a:r>
              <a:rPr lang="en-US" sz="3400" dirty="0">
                <a:solidFill>
                  <a:schemeClr val="bg1"/>
                </a:solidFill>
                <a:latin typeface="Bebas Neue Regular" pitchFamily="34" charset="0"/>
                <a:ea typeface="Bebas Neue Regular" pitchFamily="34" charset="-122"/>
                <a:cs typeface="Bebas Neue Regular" pitchFamily="34" charset="-120"/>
              </a:rPr>
              <a:t>60%</a:t>
            </a:r>
            <a:endParaRPr lang="en-US" sz="3400" dirty="0"/>
          </a:p>
        </p:txBody>
      </p:sp>
      <p:sp>
        <p:nvSpPr>
          <p:cNvPr id="12" name="Text 7"/>
          <p:cNvSpPr txBox="1"/>
          <p:nvPr/>
        </p:nvSpPr>
        <p:spPr>
          <a:xfrm>
            <a:off x="2194560" y="3200400"/>
            <a:ext cx="2971800" cy="603504"/>
          </a:xfrm>
          <a:prstGeom prst="rect">
            <a:avLst/>
          </a:prstGeom>
          <a:noFill/>
          <a:ln/>
        </p:spPr>
        <p:txBody>
          <a:bodyPr wrap="square" lIns="0" tIns="0" rIns="0" bIns="0" rtlCol="0" anchor="ctr"/>
          <a:lstStyle/>
          <a:p>
            <a:pPr indent="0" marL="0">
              <a:buNone/>
            </a:pPr>
            <a:r>
              <a:rPr lang="en-US" sz="1100" dirty="0">
                <a:solidFill>
                  <a:schemeClr val="bg1"/>
                </a:solidFill>
              </a:rPr>
              <a:t>of repeat questions answered without my time</a:t>
            </a:r>
            <a:endParaRPr lang="en-US" sz="1100" dirty="0"/>
          </a:p>
        </p:txBody>
      </p:sp>
      <p:pic>
        <p:nvPicPr>
          <p:cNvPr id="13" name="Impact bar 4" descr="preencoded.png">    </p:cNvPr>
          <p:cNvPicPr>
            <a:picLocks noChangeAspect="1"/>
          </p:cNvPicPr>
          <p:nvPr/>
        </p:nvPicPr>
        <p:blipFill>
          <a:blip r:embed="rId4"/>
          <a:stretch>
            <a:fillRect/>
          </a:stretch>
        </p:blipFill>
        <p:spPr>
          <a:xfrm>
            <a:off x="1280160" y="3931920"/>
            <a:ext cx="4023360" cy="603504"/>
          </a:xfrm>
          <a:prstGeom prst="rect">
            <a:avLst/>
          </a:prstGeom>
        </p:spPr>
      </p:pic>
      <p:sp>
        <p:nvSpPr>
          <p:cNvPr id="14" name="Text 8"/>
          <p:cNvSpPr txBox="1"/>
          <p:nvPr/>
        </p:nvSpPr>
        <p:spPr>
          <a:xfrm>
            <a:off x="1463040" y="3931920"/>
            <a:ext cx="960120" cy="603504"/>
          </a:xfrm>
          <a:prstGeom prst="rect">
            <a:avLst/>
          </a:prstGeom>
          <a:noFill/>
          <a:ln/>
        </p:spPr>
        <p:txBody>
          <a:bodyPr wrap="square" lIns="0" tIns="0" rIns="0" bIns="0" rtlCol="0" anchor="ctr"/>
          <a:lstStyle/>
          <a:p>
            <a:pPr indent="0" marL="0">
              <a:buNone/>
            </a:pPr>
            <a:r>
              <a:rPr lang="en-US" sz="3400" dirty="0">
                <a:solidFill>
                  <a:schemeClr val="bg1"/>
                </a:solidFill>
                <a:latin typeface="Bebas Neue Regular" pitchFamily="34" charset="0"/>
                <a:ea typeface="Bebas Neue Regular" pitchFamily="34" charset="-122"/>
                <a:cs typeface="Bebas Neue Regular" pitchFamily="34" charset="-120"/>
              </a:rPr>
              <a:t>0</a:t>
            </a:r>
            <a:endParaRPr lang="en-US" sz="3400" dirty="0"/>
          </a:p>
        </p:txBody>
      </p:sp>
      <p:sp>
        <p:nvSpPr>
          <p:cNvPr id="15" name="Text 9"/>
          <p:cNvSpPr txBox="1"/>
          <p:nvPr/>
        </p:nvSpPr>
        <p:spPr>
          <a:xfrm>
            <a:off x="2468880" y="3931920"/>
            <a:ext cx="2697480" cy="603504"/>
          </a:xfrm>
          <a:prstGeom prst="rect">
            <a:avLst/>
          </a:prstGeom>
          <a:noFill/>
          <a:ln/>
        </p:spPr>
        <p:txBody>
          <a:bodyPr wrap="square" lIns="0" tIns="0" rIns="0" bIns="0" rtlCol="0" anchor="ctr"/>
          <a:lstStyle/>
          <a:p>
            <a:pPr indent="0" marL="0">
              <a:buNone/>
            </a:pPr>
            <a:r>
              <a:rPr lang="en-US" sz="1100" dirty="0">
                <a:solidFill>
                  <a:schemeClr val="bg1"/>
                </a:solidFill>
              </a:rPr>
              <a:t>new tools or cost: Meta Business Suite and WhatsApp Business</a:t>
            </a:r>
            <a:endParaRPr lang="en-US" sz="1100" dirty="0"/>
          </a:p>
        </p:txBody>
      </p:sp>
      <p:pic>
        <p:nvPicPr>
          <p:cNvPr id="16" name="Sustainability card" descr="preencoded.png">    </p:cNvPr>
          <p:cNvPicPr>
            <a:picLocks noChangeAspect="1"/>
          </p:cNvPicPr>
          <p:nvPr/>
        </p:nvPicPr>
        <p:blipFill>
          <a:blip r:embed="rId5"/>
          <a:stretch>
            <a:fillRect/>
          </a:stretch>
        </p:blipFill>
        <p:spPr>
          <a:xfrm>
            <a:off x="5532120" y="1737360"/>
            <a:ext cx="3154680" cy="2834640"/>
          </a:xfrm>
          <a:prstGeom prst="rect">
            <a:avLst/>
          </a:prstGeom>
        </p:spPr>
      </p:pic>
      <p:pic>
        <p:nvPicPr>
          <p:cNvPr id="17" name="Image 5" descr="preencoded.png">    </p:cNvPr>
          <p:cNvPicPr>
            <a:picLocks noChangeAspect="1"/>
          </p:cNvPicPr>
          <p:nvPr/>
        </p:nvPicPr>
        <p:blipFill>
          <a:blip r:embed="rId6"/>
          <a:stretch>
            <a:fillRect/>
          </a:stretch>
        </p:blipFill>
        <p:spPr>
          <a:xfrm>
            <a:off x="5742432" y="1901952"/>
            <a:ext cx="365760" cy="365760"/>
          </a:xfrm>
          <a:prstGeom prst="rect">
            <a:avLst/>
          </a:prstGeom>
        </p:spPr>
      </p:pic>
      <p:sp>
        <p:nvSpPr>
          <p:cNvPr id="18" name="Text 10"/>
          <p:cNvSpPr txBox="1"/>
          <p:nvPr/>
        </p:nvSpPr>
        <p:spPr>
          <a:xfrm>
            <a:off x="6199632" y="1920240"/>
            <a:ext cx="2286000" cy="329184"/>
          </a:xfrm>
          <a:prstGeom prst="rect">
            <a:avLst/>
          </a:prstGeom>
          <a:noFill/>
          <a:ln/>
        </p:spPr>
        <p:txBody>
          <a:bodyPr wrap="square" lIns="0" tIns="0" rIns="0" bIns="0" rtlCol="0" anchor="ctr"/>
          <a:lstStyle/>
          <a:p>
            <a:pPr indent="0" marL="0">
              <a:buNone/>
            </a:pPr>
            <a:r>
              <a:rPr lang="en-US" sz="1300" b="1" dirty="0">
                <a:solidFill>
                  <a:schemeClr val="bg1"/>
                </a:solidFill>
                <a:latin typeface="General Sans" pitchFamily="34" charset="0"/>
                <a:ea typeface="General Sans" pitchFamily="34" charset="-122"/>
                <a:cs typeface="General Sans" pitchFamily="34" charset="-120"/>
              </a:rPr>
              <a:t>Why it lasts</a:t>
            </a:r>
            <a:endParaRPr lang="en-US" sz="1300" dirty="0"/>
          </a:p>
        </p:txBody>
      </p:sp>
      <p:sp>
        <p:nvSpPr>
          <p:cNvPr id="19" name="Text 11"/>
          <p:cNvSpPr txBox="1"/>
          <p:nvPr/>
        </p:nvSpPr>
        <p:spPr>
          <a:xfrm>
            <a:off x="5742432" y="2395728"/>
            <a:ext cx="2788920" cy="210312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chemeClr val="bg1"/>
                </a:solidFill>
              </a:rPr>
              <a:t>Answers, keywords and links live in Meta Business Suite, so a backup can run them</a:t>
            </a:r>
            <a:endParaRPr lang="en-US" sz="1100" dirty="0"/>
          </a:p>
          <a:p>
            <a:pPr marL="152400" indent="-152400">
              <a:spcAft>
                <a:spcPts val="600"/>
              </a:spcAft>
              <a:buSzPct val="100000"/>
              <a:buChar char="•"/>
            </a:pPr>
            <a:r>
              <a:rPr lang="en-US" sz="1100" dirty="0">
                <a:solidFill>
                  <a:schemeClr val="bg1"/>
                </a:solidFill>
              </a:rPr>
              <a:t>The weekly count goes into my monthly report</a:t>
            </a:r>
            <a:endParaRPr lang="en-US" sz="1100" dirty="0"/>
          </a:p>
          <a:p>
            <a:pPr marL="152400" indent="-152400">
              <a:spcAft>
                <a:spcPts val="600"/>
              </a:spcAft>
              <a:buSzPct val="100000"/>
              <a:buChar char="•"/>
            </a:pPr>
            <a:r>
              <a:rPr lang="en-US" sz="1100" dirty="0">
                <a:solidFill>
                  <a:schemeClr val="bg1"/>
                </a:solidFill>
              </a:rPr>
              <a:t>New programmes, Consulting and the next intake just need new links and answers</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One loop, two innovations</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Each step feeds the next, and every step can be counted</a:t>
            </a:r>
            <a:endParaRPr lang="en-US" sz="1300" dirty="0"/>
          </a:p>
        </p:txBody>
      </p:sp>
      <p:sp>
        <p:nvSpPr>
          <p:cNvPr id="4" name="Loop ring"/>
          <p:cNvSpPr/>
          <p:nvPr/>
        </p:nvSpPr>
        <p:spPr>
          <a:xfrm>
            <a:off x="960120" y="2057400"/>
            <a:ext cx="3566160" cy="2286000"/>
          </a:xfrm>
          <a:prstGeom prst="ellipse">
            <a:avLst/>
          </a:prstGeom>
          <a:solidFill>
            <a:srgbClr val="FFFFFF">
              <a:alpha val="0"/>
            </a:srgbClr>
          </a:solidFill>
          <a:ln w="25400">
            <a:solidFill>
              <a:schemeClr val="accent5"/>
            </a:solidFill>
            <a:prstDash val="dash"/>
          </a:ln>
        </p:spPr>
      </p:sp>
      <p:pic>
        <p:nvPicPr>
          <p:cNvPr id="5" name="Loop node 1" descr="preencoded.png">    </p:cNvPr>
          <p:cNvPicPr>
            <a:picLocks noChangeAspect="1"/>
          </p:cNvPicPr>
          <p:nvPr/>
        </p:nvPicPr>
        <p:blipFill>
          <a:blip r:embed="rId1"/>
          <a:stretch>
            <a:fillRect/>
          </a:stretch>
        </p:blipFill>
        <p:spPr>
          <a:xfrm>
            <a:off x="1965960" y="1810512"/>
            <a:ext cx="1554480" cy="493776"/>
          </a:xfrm>
          <a:prstGeom prst="rect">
            <a:avLst/>
          </a:prstGeom>
        </p:spPr>
      </p:pic>
      <p:sp>
        <p:nvSpPr>
          <p:cNvPr id="6" name="Text 3"/>
          <p:cNvSpPr txBox="1"/>
          <p:nvPr/>
        </p:nvSpPr>
        <p:spPr>
          <a:xfrm>
            <a:off x="2039112" y="1810512"/>
            <a:ext cx="1408176" cy="493776"/>
          </a:xfrm>
          <a:prstGeom prst="rect">
            <a:avLst/>
          </a:prstGeom>
          <a:noFill/>
          <a:ln/>
        </p:spPr>
        <p:txBody>
          <a:bodyPr wrap="square" lIns="0" tIns="0" rIns="0" bIns="0" rtlCol="0" anchor="ctr"/>
          <a:lstStyle/>
          <a:p>
            <a:pPr algn="ctr" indent="0" marL="0">
              <a:buNone/>
            </a:pPr>
            <a:r>
              <a:rPr lang="en-US" sz="1000" b="1" dirty="0">
                <a:solidFill>
                  <a:schemeClr val="bg1"/>
                </a:solidFill>
              </a:rPr>
              <a:t>Facilitator interview</a:t>
            </a:r>
            <a:endParaRPr lang="en-US" sz="1000" dirty="0"/>
          </a:p>
        </p:txBody>
      </p:sp>
      <p:pic>
        <p:nvPicPr>
          <p:cNvPr id="7" name="Loop node 2" descr="preencoded.png">    </p:cNvPr>
          <p:cNvPicPr>
            <a:picLocks noChangeAspect="1"/>
          </p:cNvPicPr>
          <p:nvPr/>
        </p:nvPicPr>
        <p:blipFill>
          <a:blip r:embed="rId2"/>
          <a:stretch>
            <a:fillRect/>
          </a:stretch>
        </p:blipFill>
        <p:spPr>
          <a:xfrm>
            <a:off x="3510153" y="2382012"/>
            <a:ext cx="1554480" cy="493776"/>
          </a:xfrm>
          <a:prstGeom prst="rect">
            <a:avLst/>
          </a:prstGeom>
        </p:spPr>
      </p:pic>
      <p:sp>
        <p:nvSpPr>
          <p:cNvPr id="8" name="Text 4"/>
          <p:cNvSpPr txBox="1"/>
          <p:nvPr/>
        </p:nvSpPr>
        <p:spPr>
          <a:xfrm>
            <a:off x="3583305" y="2382012"/>
            <a:ext cx="1408176" cy="493776"/>
          </a:xfrm>
          <a:prstGeom prst="rect">
            <a:avLst/>
          </a:prstGeom>
          <a:noFill/>
          <a:ln/>
        </p:spPr>
        <p:txBody>
          <a:bodyPr wrap="square" lIns="0" tIns="0" rIns="0" bIns="0" rtlCol="0" anchor="ctr"/>
          <a:lstStyle/>
          <a:p>
            <a:pPr algn="ctr" indent="0" marL="0">
              <a:buNone/>
            </a:pPr>
            <a:r>
              <a:rPr lang="en-US" sz="1000" b="1" dirty="0">
                <a:solidFill>
                  <a:schemeClr val="bg1"/>
                </a:solidFill>
              </a:rPr>
              <a:t>Week of value posts</a:t>
            </a:r>
            <a:endParaRPr lang="en-US" sz="1000" dirty="0"/>
          </a:p>
        </p:txBody>
      </p:sp>
      <p:pic>
        <p:nvPicPr>
          <p:cNvPr id="9" name="Loop node 3" descr="preencoded.png">    </p:cNvPr>
          <p:cNvPicPr>
            <a:picLocks noChangeAspect="1"/>
          </p:cNvPicPr>
          <p:nvPr/>
        </p:nvPicPr>
        <p:blipFill>
          <a:blip r:embed="rId3"/>
          <a:stretch>
            <a:fillRect/>
          </a:stretch>
        </p:blipFill>
        <p:spPr>
          <a:xfrm>
            <a:off x="3510153" y="3525012"/>
            <a:ext cx="1554480" cy="493776"/>
          </a:xfrm>
          <a:prstGeom prst="rect">
            <a:avLst/>
          </a:prstGeom>
        </p:spPr>
      </p:pic>
      <p:sp>
        <p:nvSpPr>
          <p:cNvPr id="10" name="Text 5"/>
          <p:cNvSpPr txBox="1"/>
          <p:nvPr/>
        </p:nvSpPr>
        <p:spPr>
          <a:xfrm>
            <a:off x="3583305" y="3525012"/>
            <a:ext cx="1408176" cy="493776"/>
          </a:xfrm>
          <a:prstGeom prst="rect">
            <a:avLst/>
          </a:prstGeom>
          <a:noFill/>
          <a:ln/>
        </p:spPr>
        <p:txBody>
          <a:bodyPr wrap="square" lIns="0" tIns="0" rIns="0" bIns="0" rtlCol="0" anchor="ctr"/>
          <a:lstStyle/>
          <a:p>
            <a:pPr algn="ctr" indent="0" marL="0">
              <a:buNone/>
            </a:pPr>
            <a:r>
              <a:rPr lang="en-US" sz="1000" b="1" dirty="0">
                <a:solidFill>
                  <a:schemeClr val="bg1"/>
                </a:solidFill>
              </a:rPr>
              <a:t>Keyword comment or DM</a:t>
            </a:r>
            <a:endParaRPr lang="en-US" sz="1000" dirty="0"/>
          </a:p>
        </p:txBody>
      </p:sp>
      <p:pic>
        <p:nvPicPr>
          <p:cNvPr id="11" name="Loop node 4" descr="preencoded.png">    </p:cNvPr>
          <p:cNvPicPr>
            <a:picLocks noChangeAspect="1"/>
          </p:cNvPicPr>
          <p:nvPr/>
        </p:nvPicPr>
        <p:blipFill>
          <a:blip r:embed="rId4"/>
          <a:stretch>
            <a:fillRect/>
          </a:stretch>
        </p:blipFill>
        <p:spPr>
          <a:xfrm>
            <a:off x="1965960" y="4096512"/>
            <a:ext cx="1554480" cy="493776"/>
          </a:xfrm>
          <a:prstGeom prst="rect">
            <a:avLst/>
          </a:prstGeom>
        </p:spPr>
      </p:pic>
      <p:sp>
        <p:nvSpPr>
          <p:cNvPr id="12" name="Text 6"/>
          <p:cNvSpPr txBox="1"/>
          <p:nvPr/>
        </p:nvSpPr>
        <p:spPr>
          <a:xfrm>
            <a:off x="2039112" y="4096512"/>
            <a:ext cx="1408176" cy="493776"/>
          </a:xfrm>
          <a:prstGeom prst="rect">
            <a:avLst/>
          </a:prstGeom>
          <a:noFill/>
          <a:ln/>
        </p:spPr>
        <p:txBody>
          <a:bodyPr wrap="square" lIns="0" tIns="0" rIns="0" bIns="0" rtlCol="0" anchor="ctr"/>
          <a:lstStyle/>
          <a:p>
            <a:pPr algn="ctr" indent="0" marL="0">
              <a:buNone/>
            </a:pPr>
            <a:r>
              <a:rPr lang="en-US" sz="1000" b="1" dirty="0">
                <a:solidFill>
                  <a:schemeClr val="bg1"/>
                </a:solidFill>
              </a:rPr>
              <a:t>Instant reply and FAQ</a:t>
            </a:r>
            <a:endParaRPr lang="en-US" sz="1000" dirty="0"/>
          </a:p>
        </p:txBody>
      </p:sp>
      <p:pic>
        <p:nvPicPr>
          <p:cNvPr id="13" name="Loop node 5" descr="preencoded.png">    </p:cNvPr>
          <p:cNvPicPr>
            <a:picLocks noChangeAspect="1"/>
          </p:cNvPicPr>
          <p:nvPr/>
        </p:nvPicPr>
        <p:blipFill>
          <a:blip r:embed="rId5"/>
          <a:stretch>
            <a:fillRect/>
          </a:stretch>
        </p:blipFill>
        <p:spPr>
          <a:xfrm>
            <a:off x="421767" y="3525012"/>
            <a:ext cx="1554480" cy="493776"/>
          </a:xfrm>
          <a:prstGeom prst="rect">
            <a:avLst/>
          </a:prstGeom>
        </p:spPr>
      </p:pic>
      <p:sp>
        <p:nvSpPr>
          <p:cNvPr id="14" name="Text 7"/>
          <p:cNvSpPr txBox="1"/>
          <p:nvPr/>
        </p:nvSpPr>
        <p:spPr>
          <a:xfrm>
            <a:off x="494919" y="3525012"/>
            <a:ext cx="1408176" cy="493776"/>
          </a:xfrm>
          <a:prstGeom prst="rect">
            <a:avLst/>
          </a:prstGeom>
          <a:noFill/>
          <a:ln/>
        </p:spPr>
        <p:txBody>
          <a:bodyPr wrap="square" lIns="0" tIns="0" rIns="0" bIns="0" rtlCol="0" anchor="ctr"/>
          <a:lstStyle/>
          <a:p>
            <a:pPr algn="ctr" indent="0" marL="0">
              <a:buNone/>
            </a:pPr>
            <a:r>
              <a:rPr lang="en-US" sz="1000" b="1" dirty="0">
                <a:solidFill>
                  <a:schemeClr val="bg1"/>
                </a:solidFill>
              </a:rPr>
              <a:t>Tagged WhatsApp to Sales</a:t>
            </a:r>
            <a:endParaRPr lang="en-US" sz="1000" dirty="0"/>
          </a:p>
        </p:txBody>
      </p:sp>
      <p:pic>
        <p:nvPicPr>
          <p:cNvPr id="15" name="Loop node 6" descr="preencoded.png">    </p:cNvPr>
          <p:cNvPicPr>
            <a:picLocks noChangeAspect="1"/>
          </p:cNvPicPr>
          <p:nvPr/>
        </p:nvPicPr>
        <p:blipFill>
          <a:blip r:embed="rId6"/>
          <a:stretch>
            <a:fillRect/>
          </a:stretch>
        </p:blipFill>
        <p:spPr>
          <a:xfrm>
            <a:off x="421767" y="2382012"/>
            <a:ext cx="1554480" cy="493776"/>
          </a:xfrm>
          <a:prstGeom prst="rect">
            <a:avLst/>
          </a:prstGeom>
        </p:spPr>
      </p:pic>
      <p:sp>
        <p:nvSpPr>
          <p:cNvPr id="16" name="Text 8"/>
          <p:cNvSpPr txBox="1"/>
          <p:nvPr/>
        </p:nvSpPr>
        <p:spPr>
          <a:xfrm>
            <a:off x="494919" y="2382012"/>
            <a:ext cx="1408176" cy="493776"/>
          </a:xfrm>
          <a:prstGeom prst="rect">
            <a:avLst/>
          </a:prstGeom>
          <a:noFill/>
          <a:ln/>
        </p:spPr>
        <p:txBody>
          <a:bodyPr wrap="square" lIns="0" tIns="0" rIns="0" bIns="0" rtlCol="0" anchor="ctr"/>
          <a:lstStyle/>
          <a:p>
            <a:pPr algn="ctr" indent="0" marL="0">
              <a:buNone/>
            </a:pPr>
            <a:r>
              <a:rPr lang="en-US" sz="1000" b="1" dirty="0">
                <a:solidFill>
                  <a:schemeClr val="bg1"/>
                </a:solidFill>
              </a:rPr>
              <a:t>Questions feed next interviews</a:t>
            </a:r>
            <a:endParaRPr lang="en-US" sz="1000" dirty="0"/>
          </a:p>
        </p:txBody>
      </p:sp>
      <p:sp>
        <p:nvSpPr>
          <p:cNvPr id="17" name="Text 9"/>
          <p:cNvSpPr txBox="1"/>
          <p:nvPr/>
        </p:nvSpPr>
        <p:spPr>
          <a:xfrm>
            <a:off x="2011680" y="2788920"/>
            <a:ext cx="1463040" cy="822960"/>
          </a:xfrm>
          <a:prstGeom prst="rect">
            <a:avLst/>
          </a:prstGeom>
          <a:noFill/>
          <a:ln/>
        </p:spPr>
        <p:txBody>
          <a:bodyPr wrap="square" lIns="0" tIns="0" rIns="0" bIns="0" rtlCol="0" anchor="ctr"/>
          <a:lstStyle/>
          <a:p>
            <a:pPr algn="ctr" indent="0" marL="0">
              <a:lnSpc>
                <a:spcPct val="85000"/>
              </a:lnSpc>
              <a:buNone/>
            </a:pPr>
            <a:r>
              <a:rPr lang="en-US" sz="3000" dirty="0">
                <a:solidFill>
                  <a:schemeClr val="tx2"/>
                </a:solidFill>
                <a:latin typeface="Bebas Neue Regular" pitchFamily="34" charset="0"/>
                <a:ea typeface="Bebas Neue Regular" pitchFamily="34" charset="-122"/>
                <a:cs typeface="Bebas Neue Regular" pitchFamily="34" charset="-120"/>
              </a:rPr>
              <a:t>ONE</a:t>
            </a:r>
            <a:endParaRPr lang="en-US" sz="3000" dirty="0"/>
          </a:p>
          <a:p>
            <a:pPr algn="ctr" indent="0" marL="0">
              <a:lnSpc>
                <a:spcPct val="85000"/>
              </a:lnSpc>
              <a:buNone/>
            </a:pPr>
            <a:r>
              <a:rPr lang="en-US" sz="3000" dirty="0">
                <a:solidFill>
                  <a:schemeClr val="tx2"/>
                </a:solidFill>
                <a:latin typeface="Bebas Neue Regular" pitchFamily="34" charset="0"/>
                <a:ea typeface="Bebas Neue Regular" pitchFamily="34" charset="-122"/>
                <a:cs typeface="Bebas Neue Regular" pitchFamily="34" charset="-120"/>
              </a:rPr>
              <a:t>LOOP</a:t>
            </a:r>
            <a:endParaRPr lang="en-US" sz="3000" dirty="0"/>
          </a:p>
        </p:txBody>
      </p:sp>
      <p:pic>
        <p:nvPicPr>
          <p:cNvPr id="18" name="Story card" descr="preencoded.png">    </p:cNvPr>
          <p:cNvPicPr>
            <a:picLocks noChangeAspect="1"/>
          </p:cNvPicPr>
          <p:nvPr/>
        </p:nvPicPr>
        <p:blipFill>
          <a:blip r:embed="rId7"/>
          <a:stretch>
            <a:fillRect/>
          </a:stretch>
        </p:blipFill>
        <p:spPr>
          <a:xfrm>
            <a:off x="5532120" y="1737360"/>
            <a:ext cx="3154680" cy="2971800"/>
          </a:xfrm>
          <a:prstGeom prst="rect">
            <a:avLst/>
          </a:prstGeom>
        </p:spPr>
      </p:pic>
      <p:sp>
        <p:nvSpPr>
          <p:cNvPr id="19" name="Text 10"/>
          <p:cNvSpPr txBox="1"/>
          <p:nvPr/>
        </p:nvSpPr>
        <p:spPr>
          <a:xfrm>
            <a:off x="5760720" y="1901952"/>
            <a:ext cx="2743200" cy="1143000"/>
          </a:xfrm>
          <a:prstGeom prst="rect">
            <a:avLst/>
          </a:prstGeom>
          <a:noFill/>
          <a:ln/>
        </p:spPr>
        <p:txBody>
          <a:bodyPr wrap="square" lIns="0" tIns="0" rIns="0" bIns="0" rtlCol="0" anchor="t"/>
          <a:lstStyle/>
          <a:p>
            <a:pPr indent="0" marL="0">
              <a:buNone/>
            </a:pPr>
            <a:r>
              <a:rPr lang="en-US" sz="1700" b="1" dirty="0">
                <a:solidFill>
                  <a:schemeClr val="bg1"/>
                </a:solidFill>
                <a:latin typeface="General Sans" pitchFamily="34" charset="0"/>
                <a:ea typeface="General Sans" pitchFamily="34" charset="-122"/>
                <a:cs typeface="General Sans" pitchFamily="34" charset="-120"/>
              </a:rPr>
              <a:t>Answer in public.</a:t>
            </a:r>
            <a:endParaRPr lang="en-US" sz="1700" dirty="0"/>
          </a:p>
          <a:p>
            <a:pPr indent="0" marL="0">
              <a:buNone/>
            </a:pPr>
            <a:r>
              <a:rPr lang="en-US" sz="1700" b="1" dirty="0">
                <a:solidFill>
                  <a:schemeClr val="bg1"/>
                </a:solidFill>
                <a:latin typeface="General Sans" pitchFamily="34" charset="0"/>
                <a:ea typeface="General Sans" pitchFamily="34" charset="-122"/>
                <a:cs typeface="General Sans" pitchFamily="34" charset="-120"/>
              </a:rPr>
              <a:t>Sell in private.</a:t>
            </a:r>
            <a:endParaRPr lang="en-US" sz="1700" dirty="0"/>
          </a:p>
          <a:p>
            <a:pPr indent="0" marL="0">
              <a:buNone/>
            </a:pPr>
            <a:r>
              <a:rPr lang="en-US" sz="1700" b="1" dirty="0">
                <a:solidFill>
                  <a:schemeClr val="bg1"/>
                </a:solidFill>
                <a:latin typeface="General Sans" pitchFamily="34" charset="0"/>
                <a:ea typeface="General Sans" pitchFamily="34" charset="-122"/>
                <a:cs typeface="General Sans" pitchFamily="34" charset="-120"/>
              </a:rPr>
              <a:t>Track the handover.</a:t>
            </a:r>
            <a:endParaRPr lang="en-US" sz="1700" dirty="0"/>
          </a:p>
        </p:txBody>
      </p:sp>
      <p:pic>
        <p:nvPicPr>
          <p:cNvPr id="20" name="Image 7" descr="preencoded.png">    </p:cNvPr>
          <p:cNvPicPr>
            <a:picLocks noChangeAspect="1"/>
          </p:cNvPicPr>
          <p:nvPr/>
        </p:nvPicPr>
        <p:blipFill>
          <a:blip r:embed="rId8"/>
          <a:stretch>
            <a:fillRect/>
          </a:stretch>
        </p:blipFill>
        <p:spPr>
          <a:xfrm>
            <a:off x="5760720" y="3291840"/>
            <a:ext cx="237744" cy="237744"/>
          </a:xfrm>
          <a:prstGeom prst="rect">
            <a:avLst/>
          </a:prstGeom>
        </p:spPr>
      </p:pic>
      <p:sp>
        <p:nvSpPr>
          <p:cNvPr id="21" name="Text 11"/>
          <p:cNvSpPr txBox="1"/>
          <p:nvPr/>
        </p:nvSpPr>
        <p:spPr>
          <a:xfrm>
            <a:off x="6108192" y="3246120"/>
            <a:ext cx="2468880" cy="329184"/>
          </a:xfrm>
          <a:prstGeom prst="rect">
            <a:avLst/>
          </a:prstGeom>
          <a:noFill/>
          <a:ln/>
        </p:spPr>
        <p:txBody>
          <a:bodyPr wrap="square" lIns="0" tIns="0" rIns="0" bIns="0" rtlCol="0" anchor="ctr"/>
          <a:lstStyle/>
          <a:p>
            <a:pPr indent="0" marL="0">
              <a:buNone/>
            </a:pPr>
            <a:r>
              <a:rPr lang="en-US" sz="1100" dirty="0">
                <a:solidFill>
                  <a:schemeClr val="accent5"/>
                </a:solidFill>
              </a:rPr>
              <a:t>Classroom to Content: makes the posts</a:t>
            </a:r>
            <a:endParaRPr lang="en-US" sz="1100" dirty="0"/>
          </a:p>
        </p:txBody>
      </p:sp>
      <p:pic>
        <p:nvPicPr>
          <p:cNvPr id="22" name="Image 8" descr="preencoded.png">    </p:cNvPr>
          <p:cNvPicPr>
            <a:picLocks noChangeAspect="1"/>
          </p:cNvPicPr>
          <p:nvPr/>
        </p:nvPicPr>
        <p:blipFill>
          <a:blip r:embed="rId9"/>
          <a:stretch>
            <a:fillRect/>
          </a:stretch>
        </p:blipFill>
        <p:spPr>
          <a:xfrm>
            <a:off x="5760720" y="3703320"/>
            <a:ext cx="237744" cy="237744"/>
          </a:xfrm>
          <a:prstGeom prst="rect">
            <a:avLst/>
          </a:prstGeom>
        </p:spPr>
      </p:pic>
      <p:sp>
        <p:nvSpPr>
          <p:cNvPr id="23" name="Text 12"/>
          <p:cNvSpPr txBox="1"/>
          <p:nvPr/>
        </p:nvSpPr>
        <p:spPr>
          <a:xfrm>
            <a:off x="6108192" y="3639312"/>
            <a:ext cx="2468880" cy="384048"/>
          </a:xfrm>
          <a:prstGeom prst="rect">
            <a:avLst/>
          </a:prstGeom>
          <a:noFill/>
          <a:ln/>
        </p:spPr>
        <p:txBody>
          <a:bodyPr wrap="square" lIns="0" tIns="0" rIns="0" bIns="0" rtlCol="0" anchor="ctr"/>
          <a:lstStyle/>
          <a:p>
            <a:pPr indent="0" marL="0">
              <a:buNone/>
            </a:pPr>
            <a:r>
              <a:rPr lang="en-US" sz="1100" dirty="0">
                <a:solidFill>
                  <a:schemeClr val="accent5"/>
                </a:solidFill>
              </a:rPr>
              <a:t>Social Enquiry Routing: turns interest into tracked leads</a:t>
            </a:r>
            <a:endParaRPr lang="en-US" sz="1100" dirty="0"/>
          </a:p>
        </p:txBody>
      </p:sp>
      <p:sp>
        <p:nvSpPr>
          <p:cNvPr id="24" name="Text 13"/>
          <p:cNvSpPr txBox="1"/>
          <p:nvPr/>
        </p:nvSpPr>
        <p:spPr>
          <a:xfrm>
            <a:off x="5760720" y="4114800"/>
            <a:ext cx="2743200" cy="502920"/>
          </a:xfrm>
          <a:prstGeom prst="rect">
            <a:avLst/>
          </a:prstGeom>
          <a:noFill/>
          <a:ln/>
        </p:spPr>
        <p:txBody>
          <a:bodyPr wrap="square" lIns="0" tIns="0" rIns="0" bIns="0" rtlCol="0" anchor="t"/>
          <a:lstStyle/>
          <a:p>
            <a:pPr indent="0" marL="0">
              <a:buNone/>
            </a:pPr>
            <a:r>
              <a:rPr lang="en-US" sz="1000" dirty="0">
                <a:solidFill>
                  <a:schemeClr val="accent3"/>
                </a:solidFill>
              </a:rPr>
              <a:t>Both use tools HRCC already has, with AI doing the drafting and a person approving every word.</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457200" y="621792"/>
            <a:ext cx="8229600" cy="594360"/>
          </a:xfrm>
          <a:prstGeom prst="rect">
            <a:avLst/>
          </a:prstGeom>
          <a:noFill/>
          <a:ln/>
        </p:spPr>
        <p:txBody>
          <a:bodyPr wrap="square" lIns="0" tIns="0" rIns="0" bIns="0" rtlCol="0" anchor="ctr"/>
          <a:lstStyle/>
          <a:p>
            <a:pPr algn="l" indent="0" marL="0">
              <a:buNone/>
            </a:pPr>
            <a:r>
              <a:rPr lang="en-US" sz="2600" b="1" dirty="0">
                <a:solidFill>
                  <a:schemeClr val="tx2"/>
                </a:solidFill>
                <a:latin typeface="General Sans" pitchFamily="34" charset="0"/>
                <a:ea typeface="General Sans" pitchFamily="34" charset="-122"/>
                <a:cs typeface="General Sans" pitchFamily="34" charset="-120"/>
              </a:rPr>
              <a:t>What I need from you</a:t>
            </a:r>
            <a:endParaRPr lang="en-US" sz="2600" dirty="0"/>
          </a:p>
        </p:txBody>
      </p:sp>
      <p:sp>
        <p:nvSpPr>
          <p:cNvPr id="3" name="Text 2"/>
          <p:cNvSpPr/>
          <p:nvPr>
            <p:ph idx="103" type="body" hasCustomPrompt="1"/>
          </p:nvPr>
        </p:nvSpPr>
        <p:spPr>
          <a:xfrm>
            <a:off x="457200" y="1216152"/>
            <a:ext cx="8229600" cy="320040"/>
          </a:xfrm>
          <a:prstGeom prst="rect">
            <a:avLst/>
          </a:prstGeom>
          <a:noFill/>
          <a:ln/>
        </p:spPr>
        <p:txBody>
          <a:bodyPr wrap="square" lIns="0" tIns="0" rIns="0" bIns="0" rtlCol="0" anchor="t"/>
          <a:lstStyle/>
          <a:p>
            <a:pPr algn="l" indent="0" marL="0">
              <a:buNone/>
            </a:pPr>
            <a:r>
              <a:rPr lang="en-US" sz="1300" dirty="0">
                <a:solidFill>
                  <a:schemeClr val="accent4"/>
                </a:solidFill>
              </a:rPr>
              <a:t>Three decisions this week keep both innovations on their dates</a:t>
            </a:r>
            <a:endParaRPr lang="en-US" sz="1300" dirty="0"/>
          </a:p>
        </p:txBody>
      </p:sp>
      <p:pic>
        <p:nvPicPr>
          <p:cNvPr id="4" name="Ask number 1" descr="preencoded.png">    </p:cNvPr>
          <p:cNvPicPr>
            <a:picLocks noChangeAspect="1"/>
          </p:cNvPicPr>
          <p:nvPr/>
        </p:nvPicPr>
        <p:blipFill>
          <a:blip r:embed="rId1"/>
          <a:stretch>
            <a:fillRect/>
          </a:stretch>
        </p:blipFill>
        <p:spPr>
          <a:xfrm>
            <a:off x="457200" y="1737360"/>
            <a:ext cx="841248" cy="841248"/>
          </a:xfrm>
          <a:prstGeom prst="rect">
            <a:avLst/>
          </a:prstGeom>
        </p:spPr>
      </p:pic>
      <p:sp>
        <p:nvSpPr>
          <p:cNvPr id="5" name="Text 2"/>
          <p:cNvSpPr txBox="1"/>
          <p:nvPr/>
        </p:nvSpPr>
        <p:spPr>
          <a:xfrm>
            <a:off x="457200" y="1737360"/>
            <a:ext cx="841248" cy="841248"/>
          </a:xfrm>
          <a:prstGeom prst="rect">
            <a:avLst/>
          </a:prstGeom>
          <a:noFill/>
          <a:ln/>
        </p:spPr>
        <p:txBody>
          <a:bodyPr wrap="square" lIns="0" tIns="0" rIns="0" bIns="0" rtlCol="0" anchor="ctr"/>
          <a:lstStyle/>
          <a:p>
            <a:pPr algn="ctr" indent="0" marL="0">
              <a:buNone/>
            </a:pPr>
            <a:r>
              <a:rPr lang="en-US" sz="4000" dirty="0">
                <a:solidFill>
                  <a:schemeClr val="bg1"/>
                </a:solidFill>
                <a:latin typeface="Bebas Neue Regular" pitchFamily="34" charset="0"/>
                <a:ea typeface="Bebas Neue Regular" pitchFamily="34" charset="-122"/>
                <a:cs typeface="Bebas Neue Regular" pitchFamily="34" charset="-120"/>
              </a:rPr>
              <a:t>1</a:t>
            </a:r>
            <a:endParaRPr lang="en-US" sz="4000" dirty="0"/>
          </a:p>
        </p:txBody>
      </p:sp>
      <p:pic>
        <p:nvPicPr>
          <p:cNvPr id="6" name="Ask card 1" descr="preencoded.png">    </p:cNvPr>
          <p:cNvPicPr>
            <a:picLocks noChangeAspect="1"/>
          </p:cNvPicPr>
          <p:nvPr/>
        </p:nvPicPr>
        <p:blipFill>
          <a:blip r:embed="rId2"/>
          <a:stretch>
            <a:fillRect/>
          </a:stretch>
        </p:blipFill>
        <p:spPr>
          <a:xfrm>
            <a:off x="1435608" y="1737360"/>
            <a:ext cx="7251192" cy="841248"/>
          </a:xfrm>
          <a:prstGeom prst="rect">
            <a:avLst/>
          </a:prstGeom>
        </p:spPr>
      </p:pic>
      <p:sp>
        <p:nvSpPr>
          <p:cNvPr id="7" name="Text 3"/>
          <p:cNvSpPr txBox="1"/>
          <p:nvPr/>
        </p:nvSpPr>
        <p:spPr>
          <a:xfrm>
            <a:off x="1645920" y="1847088"/>
            <a:ext cx="6858000" cy="274320"/>
          </a:xfrm>
          <a:prstGeom prst="rect">
            <a:avLst/>
          </a:prstGeom>
          <a:noFill/>
          <a:ln/>
        </p:spPr>
        <p:txBody>
          <a:bodyPr wrap="square" lIns="0" tIns="0" rIns="0" bIns="0" rtlCol="0" anchor="t"/>
          <a:lstStyle/>
          <a:p>
            <a:pPr indent="0" marL="0">
              <a:buNone/>
            </a:pPr>
            <a:r>
              <a:rPr lang="en-US" sz="1300" b="1" dirty="0">
                <a:solidFill>
                  <a:schemeClr val="tx2"/>
                </a:solidFill>
                <a:latin typeface="General Sans" pitchFamily="34" charset="0"/>
                <a:ea typeface="General Sans" pitchFamily="34" charset="-122"/>
                <a:cs typeface="General Sans" pitchFamily="34" charset="-120"/>
              </a:rPr>
              <a:t>Endorse the Straight from the Classroom series</a:t>
            </a:r>
            <a:endParaRPr lang="en-US" sz="1300" dirty="0"/>
          </a:p>
        </p:txBody>
      </p:sp>
      <p:sp>
        <p:nvSpPr>
          <p:cNvPr id="8" name="Text 4"/>
          <p:cNvSpPr txBox="1"/>
          <p:nvPr/>
        </p:nvSpPr>
        <p:spPr>
          <a:xfrm>
            <a:off x="1645920" y="2139696"/>
            <a:ext cx="6858000" cy="384048"/>
          </a:xfrm>
          <a:prstGeom prst="rect">
            <a:avLst/>
          </a:prstGeom>
          <a:noFill/>
          <a:ln/>
        </p:spPr>
        <p:txBody>
          <a:bodyPr wrap="square" lIns="0" tIns="0" rIns="0" bIns="0" rtlCol="0" anchor="t"/>
          <a:lstStyle/>
          <a:p>
            <a:pPr indent="0" marL="0">
              <a:buNone/>
            </a:pPr>
            <a:r>
              <a:rPr lang="en-US" sz="1100" dirty="0">
                <a:solidFill>
                  <a:schemeClr val="accent4"/>
                </a:solidFill>
              </a:rPr>
              <a:t>So facilitators and programme officers know it's a priority, and a programme officer can film on Saturdays when I can't.</a:t>
            </a:r>
            <a:endParaRPr lang="en-US" sz="1100" dirty="0"/>
          </a:p>
        </p:txBody>
      </p:sp>
      <p:pic>
        <p:nvPicPr>
          <p:cNvPr id="9" name="Ask number 2" descr="preencoded.png">    </p:cNvPr>
          <p:cNvPicPr>
            <a:picLocks noChangeAspect="1"/>
          </p:cNvPicPr>
          <p:nvPr/>
        </p:nvPicPr>
        <p:blipFill>
          <a:blip r:embed="rId3"/>
          <a:stretch>
            <a:fillRect/>
          </a:stretch>
        </p:blipFill>
        <p:spPr>
          <a:xfrm>
            <a:off x="457200" y="2724912"/>
            <a:ext cx="841248" cy="841248"/>
          </a:xfrm>
          <a:prstGeom prst="rect">
            <a:avLst/>
          </a:prstGeom>
        </p:spPr>
      </p:pic>
      <p:sp>
        <p:nvSpPr>
          <p:cNvPr id="10" name="Text 5"/>
          <p:cNvSpPr txBox="1"/>
          <p:nvPr/>
        </p:nvSpPr>
        <p:spPr>
          <a:xfrm>
            <a:off x="457200" y="2724912"/>
            <a:ext cx="841248" cy="841248"/>
          </a:xfrm>
          <a:prstGeom prst="rect">
            <a:avLst/>
          </a:prstGeom>
          <a:noFill/>
          <a:ln/>
        </p:spPr>
        <p:txBody>
          <a:bodyPr wrap="square" lIns="0" tIns="0" rIns="0" bIns="0" rtlCol="0" anchor="ctr"/>
          <a:lstStyle/>
          <a:p>
            <a:pPr algn="ctr" indent="0" marL="0">
              <a:buNone/>
            </a:pPr>
            <a:r>
              <a:rPr lang="en-US" sz="4000" dirty="0">
                <a:solidFill>
                  <a:schemeClr val="bg1"/>
                </a:solidFill>
                <a:latin typeface="Bebas Neue Regular" pitchFamily="34" charset="0"/>
                <a:ea typeface="Bebas Neue Regular" pitchFamily="34" charset="-122"/>
                <a:cs typeface="Bebas Neue Regular" pitchFamily="34" charset="-120"/>
              </a:rPr>
              <a:t>2</a:t>
            </a:r>
            <a:endParaRPr lang="en-US" sz="4000" dirty="0"/>
          </a:p>
        </p:txBody>
      </p:sp>
      <p:pic>
        <p:nvPicPr>
          <p:cNvPr id="11" name="Ask card 2" descr="preencoded.png">    </p:cNvPr>
          <p:cNvPicPr>
            <a:picLocks noChangeAspect="1"/>
          </p:cNvPicPr>
          <p:nvPr/>
        </p:nvPicPr>
        <p:blipFill>
          <a:blip r:embed="rId4"/>
          <a:stretch>
            <a:fillRect/>
          </a:stretch>
        </p:blipFill>
        <p:spPr>
          <a:xfrm>
            <a:off x="1435608" y="2724912"/>
            <a:ext cx="7251192" cy="841248"/>
          </a:xfrm>
          <a:prstGeom prst="rect">
            <a:avLst/>
          </a:prstGeom>
        </p:spPr>
      </p:pic>
      <p:sp>
        <p:nvSpPr>
          <p:cNvPr id="12" name="Text 6"/>
          <p:cNvSpPr txBox="1"/>
          <p:nvPr/>
        </p:nvSpPr>
        <p:spPr>
          <a:xfrm>
            <a:off x="1645920" y="2834640"/>
            <a:ext cx="6858000" cy="274320"/>
          </a:xfrm>
          <a:prstGeom prst="rect">
            <a:avLst/>
          </a:prstGeom>
          <a:noFill/>
          <a:ln/>
        </p:spPr>
        <p:txBody>
          <a:bodyPr wrap="square" lIns="0" tIns="0" rIns="0" bIns="0" rtlCol="0" anchor="t"/>
          <a:lstStyle/>
          <a:p>
            <a:pPr indent="0" marL="0">
              <a:buNone/>
            </a:pPr>
            <a:r>
              <a:rPr lang="en-US" sz="1300" b="1" dirty="0">
                <a:solidFill>
                  <a:schemeClr val="tx2"/>
                </a:solidFill>
                <a:latin typeface="General Sans" pitchFamily="34" charset="0"/>
                <a:ea typeface="General Sans" pitchFamily="34" charset="-122"/>
                <a:cs typeface="General Sans" pitchFamily="34" charset="-120"/>
              </a:rPr>
              <a:t>Approve the social reply standard</a:t>
            </a:r>
            <a:endParaRPr lang="en-US" sz="1300" dirty="0"/>
          </a:p>
        </p:txBody>
      </p:sp>
      <p:sp>
        <p:nvSpPr>
          <p:cNvPr id="13" name="Text 7"/>
          <p:cNvSpPr txBox="1"/>
          <p:nvPr/>
        </p:nvSpPr>
        <p:spPr>
          <a:xfrm>
            <a:off x="1645920" y="3127248"/>
            <a:ext cx="6858000" cy="384048"/>
          </a:xfrm>
          <a:prstGeom prst="rect">
            <a:avLst/>
          </a:prstGeom>
          <a:noFill/>
          <a:ln/>
        </p:spPr>
        <p:txBody>
          <a:bodyPr wrap="square" lIns="0" tIns="0" rIns="0" bIns="0" rtlCol="0" anchor="t"/>
          <a:lstStyle/>
          <a:p>
            <a:pPr indent="0" marL="0">
              <a:buNone/>
            </a:pPr>
            <a:r>
              <a:rPr lang="en-US" sz="1100" dirty="0">
                <a:solidFill>
                  <a:schemeClr val="accent4"/>
                </a:solidFill>
              </a:rPr>
              <a:t>Instant first reply, a personal reply within 15 minutes in working hours, and Sales adding a 'Social lead' label with a Friday count.</a:t>
            </a:r>
            <a:endParaRPr lang="en-US" sz="1100" dirty="0"/>
          </a:p>
        </p:txBody>
      </p:sp>
      <p:pic>
        <p:nvPicPr>
          <p:cNvPr id="14" name="Ask number 3" descr="preencoded.png">    </p:cNvPr>
          <p:cNvPicPr>
            <a:picLocks noChangeAspect="1"/>
          </p:cNvPicPr>
          <p:nvPr/>
        </p:nvPicPr>
        <p:blipFill>
          <a:blip r:embed="rId5"/>
          <a:stretch>
            <a:fillRect/>
          </a:stretch>
        </p:blipFill>
        <p:spPr>
          <a:xfrm>
            <a:off x="457200" y="3712464"/>
            <a:ext cx="841248" cy="841248"/>
          </a:xfrm>
          <a:prstGeom prst="rect">
            <a:avLst/>
          </a:prstGeom>
        </p:spPr>
      </p:pic>
      <p:sp>
        <p:nvSpPr>
          <p:cNvPr id="15" name="Text 8"/>
          <p:cNvSpPr txBox="1"/>
          <p:nvPr/>
        </p:nvSpPr>
        <p:spPr>
          <a:xfrm>
            <a:off x="457200" y="3712464"/>
            <a:ext cx="841248" cy="841248"/>
          </a:xfrm>
          <a:prstGeom prst="rect">
            <a:avLst/>
          </a:prstGeom>
          <a:noFill/>
          <a:ln/>
        </p:spPr>
        <p:txBody>
          <a:bodyPr wrap="square" lIns="0" tIns="0" rIns="0" bIns="0" rtlCol="0" anchor="ctr"/>
          <a:lstStyle/>
          <a:p>
            <a:pPr algn="ctr" indent="0" marL="0">
              <a:buNone/>
            </a:pPr>
            <a:r>
              <a:rPr lang="en-US" sz="4000" dirty="0">
                <a:solidFill>
                  <a:schemeClr val="bg1"/>
                </a:solidFill>
                <a:latin typeface="Bebas Neue Regular" pitchFamily="34" charset="0"/>
                <a:ea typeface="Bebas Neue Regular" pitchFamily="34" charset="-122"/>
                <a:cs typeface="Bebas Neue Regular" pitchFamily="34" charset="-120"/>
              </a:rPr>
              <a:t>3</a:t>
            </a:r>
            <a:endParaRPr lang="en-US" sz="4000" dirty="0"/>
          </a:p>
        </p:txBody>
      </p:sp>
      <p:pic>
        <p:nvPicPr>
          <p:cNvPr id="16" name="Ask card 3" descr="preencoded.png">    </p:cNvPr>
          <p:cNvPicPr>
            <a:picLocks noChangeAspect="1"/>
          </p:cNvPicPr>
          <p:nvPr/>
        </p:nvPicPr>
        <p:blipFill>
          <a:blip r:embed="rId6"/>
          <a:stretch>
            <a:fillRect/>
          </a:stretch>
        </p:blipFill>
        <p:spPr>
          <a:xfrm>
            <a:off x="1435608" y="3712464"/>
            <a:ext cx="7251192" cy="841248"/>
          </a:xfrm>
          <a:prstGeom prst="rect">
            <a:avLst/>
          </a:prstGeom>
        </p:spPr>
      </p:pic>
      <p:sp>
        <p:nvSpPr>
          <p:cNvPr id="17" name="Text 9"/>
          <p:cNvSpPr txBox="1"/>
          <p:nvPr/>
        </p:nvSpPr>
        <p:spPr>
          <a:xfrm>
            <a:off x="1645920" y="3822192"/>
            <a:ext cx="6858000" cy="274320"/>
          </a:xfrm>
          <a:prstGeom prst="rect">
            <a:avLst/>
          </a:prstGeom>
          <a:noFill/>
          <a:ln/>
        </p:spPr>
        <p:txBody>
          <a:bodyPr wrap="square" lIns="0" tIns="0" rIns="0" bIns="0" rtlCol="0" anchor="t"/>
          <a:lstStyle/>
          <a:p>
            <a:pPr indent="0" marL="0">
              <a:buNone/>
            </a:pPr>
            <a:r>
              <a:rPr lang="en-US" sz="1300" b="1" dirty="0">
                <a:solidFill>
                  <a:schemeClr val="tx2"/>
                </a:solidFill>
                <a:latin typeface="General Sans" pitchFamily="34" charset="0"/>
                <a:ea typeface="General Sans" pitchFamily="34" charset="-122"/>
                <a:cs typeface="General Sans" pitchFamily="34" charset="-120"/>
              </a:rPr>
              <a:t>Agree that Sales confirms the FAQ facts</a:t>
            </a:r>
            <a:endParaRPr lang="en-US" sz="1300" dirty="0"/>
          </a:p>
        </p:txBody>
      </p:sp>
      <p:sp>
        <p:nvSpPr>
          <p:cNvPr id="18" name="Text 10"/>
          <p:cNvSpPr txBox="1"/>
          <p:nvPr/>
        </p:nvSpPr>
        <p:spPr>
          <a:xfrm>
            <a:off x="1645920" y="4114800"/>
            <a:ext cx="6858000" cy="384048"/>
          </a:xfrm>
          <a:prstGeom prst="rect">
            <a:avLst/>
          </a:prstGeom>
          <a:noFill/>
          <a:ln/>
        </p:spPr>
        <p:txBody>
          <a:bodyPr wrap="square" lIns="0" tIns="0" rIns="0" bIns="0" rtlCol="0" anchor="t"/>
          <a:lstStyle/>
          <a:p>
            <a:pPr indent="0" marL="0">
              <a:buNone/>
            </a:pPr>
            <a:r>
              <a:rPr lang="en-US" sz="1100" dirty="0">
                <a:solidFill>
                  <a:schemeClr val="accent4"/>
                </a:solidFill>
              </a:rPr>
              <a:t>Fees, dates and requirements checked once in October, then whenever they change.</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B61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Watermark"/>
          <p:cNvSpPr txBox="1"/>
          <p:nvPr/>
        </p:nvSpPr>
        <p:spPr>
          <a:xfrm>
            <a:off x="4206240" y="-182880"/>
            <a:ext cx="5120640" cy="5120640"/>
          </a:xfrm>
          <a:prstGeom prst="rect">
            <a:avLst/>
          </a:prstGeom>
          <a:noFill/>
          <a:ln/>
        </p:spPr>
        <p:txBody>
          <a:bodyPr wrap="square" lIns="0" tIns="0" rIns="0" bIns="0" rtlCol="0" anchor="ctr"/>
          <a:lstStyle/>
          <a:p>
            <a:pPr algn="r" indent="0" marL="0">
              <a:buNone/>
            </a:pPr>
            <a:r>
              <a:rPr lang="en-US" sz="30000" dirty="0">
                <a:solidFill>
                  <a:schemeClr val="bg1">
                    <a:alpha val="14000"/>
                  </a:schemeClr>
                </a:solidFill>
                <a:latin typeface="Bebas Neue Regular" pitchFamily="34" charset="0"/>
                <a:ea typeface="Bebas Neue Regular" pitchFamily="34" charset="-122"/>
                <a:cs typeface="Bebas Neue Regular" pitchFamily="34" charset="-120"/>
              </a:rPr>
              <a:t>Q4</a:t>
            </a:r>
            <a:endParaRPr lang="en-US" sz="30000" dirty="0"/>
          </a:p>
        </p:txBody>
      </p:sp>
      <p:sp>
        <p:nvSpPr>
          <p:cNvPr id="3" name="Text 1"/>
          <p:cNvSpPr txBox="1"/>
          <p:nvPr/>
        </p:nvSpPr>
        <p:spPr>
          <a:xfrm>
            <a:off x="457200" y="1417320"/>
            <a:ext cx="5943600" cy="1463040"/>
          </a:xfrm>
          <a:prstGeom prst="rect">
            <a:avLst/>
          </a:prstGeom>
          <a:noFill/>
          <a:ln/>
        </p:spPr>
        <p:txBody>
          <a:bodyPr wrap="square" lIns="0" tIns="0" rIns="0" bIns="0" rtlCol="0" anchor="ctr"/>
          <a:lstStyle/>
          <a:p>
            <a:pPr indent="0" marL="0">
              <a:buNone/>
            </a:pPr>
            <a:r>
              <a:rPr lang="en-US" sz="4400" b="1" dirty="0">
                <a:solidFill>
                  <a:schemeClr val="bg1"/>
                </a:solidFill>
                <a:latin typeface="General Sans" pitchFamily="34" charset="0"/>
                <a:ea typeface="General Sans" pitchFamily="34" charset="-122"/>
                <a:cs typeface="General Sans" pitchFamily="34" charset="-120"/>
              </a:rPr>
              <a:t>Better,</a:t>
            </a:r>
            <a:endParaRPr lang="en-US" sz="4400" dirty="0"/>
          </a:p>
          <a:p>
            <a:pPr indent="0" marL="0">
              <a:buNone/>
            </a:pPr>
            <a:r>
              <a:rPr lang="en-US" sz="4400" b="1" dirty="0">
                <a:solidFill>
                  <a:schemeClr val="bg1"/>
                </a:solidFill>
                <a:latin typeface="General Sans" pitchFamily="34" charset="0"/>
                <a:ea typeface="General Sans" pitchFamily="34" charset="-122"/>
                <a:cs typeface="General Sans" pitchFamily="34" charset="-120"/>
              </a:rPr>
              <a:t>not more.</a:t>
            </a:r>
            <a:endParaRPr lang="en-US" sz="4400" dirty="0"/>
          </a:p>
        </p:txBody>
      </p:sp>
      <p:sp>
        <p:nvSpPr>
          <p:cNvPr id="4" name="Text 2"/>
          <p:cNvSpPr txBox="1"/>
          <p:nvPr/>
        </p:nvSpPr>
        <p:spPr>
          <a:xfrm>
            <a:off x="457200" y="3017520"/>
            <a:ext cx="5669280" cy="685800"/>
          </a:xfrm>
          <a:prstGeom prst="rect">
            <a:avLst/>
          </a:prstGeom>
          <a:noFill/>
          <a:ln/>
        </p:spPr>
        <p:txBody>
          <a:bodyPr wrap="square" lIns="0" tIns="0" rIns="0" bIns="0" rtlCol="0" anchor="t"/>
          <a:lstStyle/>
          <a:p>
            <a:pPr indent="0" marL="0">
              <a:buNone/>
            </a:pPr>
            <a:r>
              <a:rPr lang="en-US" sz="1500" dirty="0">
                <a:solidFill>
                  <a:schemeClr val="accent5"/>
                </a:solidFill>
              </a:rPr>
              <a:t>Two weekly routines, tools we already have,</a:t>
            </a:r>
            <a:endParaRPr lang="en-US" sz="1500" dirty="0"/>
          </a:p>
          <a:p>
            <a:pPr indent="0" marL="0">
              <a:buNone/>
            </a:pPr>
            <a:r>
              <a:rPr lang="en-US" sz="1500" dirty="0">
                <a:solidFill>
                  <a:schemeClr val="accent5"/>
                </a:solidFill>
              </a:rPr>
              <a:t>and numbers we can check in December.</a:t>
            </a:r>
            <a:endParaRPr lang="en-US" sz="1500" dirty="0"/>
          </a:p>
        </p:txBody>
      </p:sp>
      <p:sp>
        <p:nvSpPr>
          <p:cNvPr id="5" name="Text 3"/>
          <p:cNvSpPr txBox="1"/>
          <p:nvPr/>
        </p:nvSpPr>
        <p:spPr>
          <a:xfrm>
            <a:off x="457200" y="4526280"/>
            <a:ext cx="6400800" cy="274320"/>
          </a:xfrm>
          <a:prstGeom prst="rect">
            <a:avLst/>
          </a:prstGeom>
          <a:noFill/>
          <a:ln/>
        </p:spPr>
        <p:txBody>
          <a:bodyPr wrap="square" lIns="0" tIns="0" rIns="0" bIns="0" rtlCol="0" anchor="t"/>
          <a:lstStyle/>
          <a:p>
            <a:pPr indent="0" marL="0">
              <a:buNone/>
            </a:pPr>
            <a:r>
              <a:rPr lang="en-US" sz="1000" dirty="0">
                <a:solidFill>
                  <a:schemeClr val="accent5"/>
                </a:solidFill>
              </a:rPr>
              <a:t>Silas Atuahene Appiah  |  Digital Marketing Officer  |  5 October 2026</a:t>
            </a:r>
            <a:endParaRPr lang="en-US" sz="1000" dirty="0"/>
          </a:p>
        </p:txBody>
      </p:sp>
    </p:spTree>
  </p:cSld>
  <p:clrMapOvr>
    <a:masterClrMapping/>
  </p:clrMapOvr>
</p:sld>
</file>

<file path=ppt/theme/theme1.xml><?xml version="1.0" encoding="utf-8"?>
<a:theme xmlns:a="http://schemas.openxmlformats.org/drawingml/2006/main" name="HRCC Cohort 49">
  <a:themeElements>
    <a:clrScheme name="HRCC Cohort 49">
      <a:dk1>
        <a:srgbClr val="1D1B4F"/>
      </a:dk1>
      <a:lt1>
        <a:srgbClr val="FFFFFF"/>
      </a:lt1>
      <a:dk2>
        <a:srgbClr val="171365"/>
      </a:dk2>
      <a:lt2>
        <a:srgbClr val="EEF2FA"/>
      </a:lt2>
      <a:accent1>
        <a:srgbClr val="ED2047"/>
      </a:accent1>
      <a:accent2>
        <a:srgbClr val="3864A9"/>
      </a:accent2>
      <a:accent3>
        <a:srgbClr val="E2B872"/>
      </a:accent3>
      <a:accent4>
        <a:srgbClr val="5B6180"/>
      </a:accent4>
      <a:accent5>
        <a:srgbClr val="D6E0F2"/>
      </a:accent5>
      <a:accent6>
        <a:srgbClr val="FBDCE3"/>
      </a:accent6>
      <a:hlink>
        <a:srgbClr val="3864A9"/>
      </a:hlink>
      <a:folHlink>
        <a:srgbClr val="5B6180"/>
      </a:folHlink>
    </a:clrScheme>
    <a:fontScheme name="HRCC Cohort 49">
      <a:majorFont>
        <a:latin typeface="General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HR Certification Centre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Q4 Operational Innovations: Digital Marketing</dc:title>
  <dc:subject>PptxGenJS Presentation</dc:subject>
  <dc:creator>Silas Atuahene Appiah</dc:creator>
  <cp:lastModifiedBy>Silas Atuahene Appiah</cp:lastModifiedBy>
  <cp:revision>1</cp:revision>
  <dcterms:created xsi:type="dcterms:W3CDTF">2026-10-04T18:03:07Z</dcterms:created>
  <dcterms:modified xsi:type="dcterms:W3CDTF">2026-10-04T18:03:07Z</dcterms:modified>
</cp:coreProperties>
</file>